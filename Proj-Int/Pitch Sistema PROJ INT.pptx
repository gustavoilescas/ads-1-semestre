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7" r:id="rId9"/>
    <p:sldId id="264" r:id="rId10"/>
    <p:sldId id="265" r:id="rId11"/>
    <p:sldId id="268"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404607-3F5B-070E-3FFD-2FD0EF827E85}" v="106" dt="2026-06-16T23:01:19.8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2" d="100"/>
          <a:sy n="112" d="100"/>
        </p:scale>
        <p:origin x="55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K GUSTAVO MIILLER DOS SANTOS" userId="S::erick.santos9@aluno.cps.sp.gov.br::d097d86e-2baa-4204-b633-472fb31a3956" providerId="AD" clId="Web-{C1404607-3F5B-070E-3FFD-2FD0EF827E85}"/>
    <pc:docChg chg="modSld">
      <pc:chgData name="ERICK GUSTAVO MIILLER DOS SANTOS" userId="S::erick.santos9@aluno.cps.sp.gov.br::d097d86e-2baa-4204-b633-472fb31a3956" providerId="AD" clId="Web-{C1404607-3F5B-070E-3FFD-2FD0EF827E85}" dt="2026-06-16T23:01:19.878" v="110" actId="1076"/>
      <pc:docMkLst>
        <pc:docMk/>
      </pc:docMkLst>
      <pc:sldChg chg="addSp delSp modSp">
        <pc:chgData name="ERICK GUSTAVO MIILLER DOS SANTOS" userId="S::erick.santos9@aluno.cps.sp.gov.br::d097d86e-2baa-4204-b633-472fb31a3956" providerId="AD" clId="Web-{C1404607-3F5B-070E-3FFD-2FD0EF827E85}" dt="2026-06-16T23:01:19.878" v="110" actId="1076"/>
        <pc:sldMkLst>
          <pc:docMk/>
          <pc:sldMk cId="520338664" sldId="265"/>
        </pc:sldMkLst>
        <pc:spChg chg="add del mod">
          <ac:chgData name="ERICK GUSTAVO MIILLER DOS SANTOS" userId="S::erick.santos9@aluno.cps.sp.gov.br::d097d86e-2baa-4204-b633-472fb31a3956" providerId="AD" clId="Web-{C1404607-3F5B-070E-3FFD-2FD0EF827E85}" dt="2026-06-16T22:55:07.183" v="35"/>
          <ac:spMkLst>
            <pc:docMk/>
            <pc:sldMk cId="520338664" sldId="265"/>
            <ac:spMk id="2" creationId="{73477501-9FB9-DAED-0A34-D611FCFC8017}"/>
          </ac:spMkLst>
        </pc:spChg>
        <pc:spChg chg="add mod">
          <ac:chgData name="ERICK GUSTAVO MIILLER DOS SANTOS" userId="S::erick.santos9@aluno.cps.sp.gov.br::d097d86e-2baa-4204-b633-472fb31a3956" providerId="AD" clId="Web-{C1404607-3F5B-070E-3FFD-2FD0EF827E85}" dt="2026-06-16T22:57:15.374" v="62"/>
          <ac:spMkLst>
            <pc:docMk/>
            <pc:sldMk cId="520338664" sldId="265"/>
            <ac:spMk id="3" creationId="{D2A1B204-A797-E651-E3DF-3E9CA74DB4A9}"/>
          </ac:spMkLst>
        </pc:spChg>
        <pc:spChg chg="mod">
          <ac:chgData name="ERICK GUSTAVO MIILLER DOS SANTOS" userId="S::erick.santos9@aluno.cps.sp.gov.br::d097d86e-2baa-4204-b633-472fb31a3956" providerId="AD" clId="Web-{C1404607-3F5B-070E-3FFD-2FD0EF827E85}" dt="2026-06-16T23:01:19.878" v="110" actId="1076"/>
          <ac:spMkLst>
            <pc:docMk/>
            <pc:sldMk cId="520338664" sldId="265"/>
            <ac:spMk id="8" creationId="{AD88BEA9-9B62-9D91-0D2E-AB1ED94363C4}"/>
          </ac:spMkLst>
        </pc:spChg>
      </pc:sldChg>
      <pc:sldChg chg="modSp">
        <pc:chgData name="ERICK GUSTAVO MIILLER DOS SANTOS" userId="S::erick.santos9@aluno.cps.sp.gov.br::d097d86e-2baa-4204-b633-472fb31a3956" providerId="AD" clId="Web-{C1404607-3F5B-070E-3FFD-2FD0EF827E85}" dt="2026-06-16T22:59:57.033" v="108"/>
        <pc:sldMkLst>
          <pc:docMk/>
          <pc:sldMk cId="1614219248" sldId="266"/>
        </pc:sldMkLst>
        <pc:spChg chg="mod">
          <ac:chgData name="ERICK GUSTAVO MIILLER DOS SANTOS" userId="S::erick.santos9@aluno.cps.sp.gov.br::d097d86e-2baa-4204-b633-472fb31a3956" providerId="AD" clId="Web-{C1404607-3F5B-070E-3FFD-2FD0EF827E85}" dt="2026-06-16T22:59:57.033" v="108"/>
          <ac:spMkLst>
            <pc:docMk/>
            <pc:sldMk cId="1614219248" sldId="266"/>
            <ac:spMk id="8" creationId="{BAE49A09-9710-9224-A912-478C8C330B26}"/>
          </ac:spMkLst>
        </pc:spChg>
      </pc:sldChg>
      <pc:sldChg chg="addSp delSp modSp">
        <pc:chgData name="ERICK GUSTAVO MIILLER DOS SANTOS" userId="S::erick.santos9@aluno.cps.sp.gov.br::d097d86e-2baa-4204-b633-472fb31a3956" providerId="AD" clId="Web-{C1404607-3F5B-070E-3FFD-2FD0EF827E85}" dt="2026-06-16T22:59:27.673" v="106" actId="20577"/>
        <pc:sldMkLst>
          <pc:docMk/>
          <pc:sldMk cId="3083439738" sldId="268"/>
        </pc:sldMkLst>
        <pc:spChg chg="add del mod">
          <ac:chgData name="ERICK GUSTAVO MIILLER DOS SANTOS" userId="S::erick.santos9@aluno.cps.sp.gov.br::d097d86e-2baa-4204-b633-472fb31a3956" providerId="AD" clId="Web-{C1404607-3F5B-070E-3FFD-2FD0EF827E85}" dt="2026-06-16T22:58:21.281" v="87"/>
          <ac:spMkLst>
            <pc:docMk/>
            <pc:sldMk cId="3083439738" sldId="268"/>
            <ac:spMk id="2" creationId="{742795AE-CB92-3BA9-4629-D1C4C2D864C0}"/>
          </ac:spMkLst>
        </pc:spChg>
        <pc:spChg chg="add mod">
          <ac:chgData name="ERICK GUSTAVO MIILLER DOS SANTOS" userId="S::erick.santos9@aluno.cps.sp.gov.br::d097d86e-2baa-4204-b633-472fb31a3956" providerId="AD" clId="Web-{C1404607-3F5B-070E-3FFD-2FD0EF827E85}" dt="2026-06-16T22:59:27.673" v="106" actId="20577"/>
          <ac:spMkLst>
            <pc:docMk/>
            <pc:sldMk cId="3083439738" sldId="268"/>
            <ac:spMk id="4" creationId="{A88FFF6D-B5F8-2275-840C-82125E563D3B}"/>
          </ac:spMkLst>
        </pc:spChg>
        <pc:spChg chg="mod">
          <ac:chgData name="ERICK GUSTAVO MIILLER DOS SANTOS" userId="S::erick.santos9@aluno.cps.sp.gov.br::d097d86e-2baa-4204-b633-472fb31a3956" providerId="AD" clId="Web-{C1404607-3F5B-070E-3FFD-2FD0EF827E85}" dt="2026-06-16T22:57:55.046" v="80" actId="20577"/>
          <ac:spMkLst>
            <pc:docMk/>
            <pc:sldMk cId="3083439738" sldId="268"/>
            <ac:spMk id="8" creationId="{B65EEFF9-9CB4-E91E-0232-18AAF0B70709}"/>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4800" cap="all" baseline="0">
                <a:solidFill>
                  <a:schemeClr val="tx2"/>
                </a:solidFill>
              </a:defRPr>
            </a:lvl1pPr>
          </a:lstStyle>
          <a:p>
            <a:r>
              <a:rPr lang="pt-BR"/>
              <a:t>Clique para editar o título Mestre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E3921FFE-0C8E-4CDC-A06F-03EA2A404855}" type="datetimeFigureOut">
              <a:rPr lang="pt-BR" smtClean="0"/>
              <a:t>16/06/2026</a:t>
            </a:fld>
            <a:endParaRPr lang="pt-B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pt-B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A34B46A2-E8C1-4DF7-A6B0-0FE2B6D4EDEA}" type="slidenum">
              <a:rPr lang="pt-BR" smtClean="0"/>
              <a:t>‹nº›</a:t>
            </a:fld>
            <a:endParaRPr lang="pt-BR"/>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pic>
        <p:nvPicPr>
          <p:cNvPr id="8" name="Picture 2" descr="C:\Anderson\MateriaisAulas\FATEC\Coordenação\logos\logoFatec.png">
            <a:extLst>
              <a:ext uri="{FF2B5EF4-FFF2-40B4-BE49-F238E27FC236}">
                <a16:creationId xmlns:a16="http://schemas.microsoft.com/office/drawing/2014/main" id="{E5617AEF-34EB-BB6F-15D8-C6EFAE90305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4036" y="62635"/>
            <a:ext cx="1414156" cy="623048"/>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m 8" descr="Logotipo&#10;&#10;Descrição gerada automaticamente">
            <a:extLst>
              <a:ext uri="{FF2B5EF4-FFF2-40B4-BE49-F238E27FC236}">
                <a16:creationId xmlns:a16="http://schemas.microsoft.com/office/drawing/2014/main" id="{7C4D2FC5-36AF-CB8B-FA9D-35E687CB9A2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89091" y="-30018"/>
            <a:ext cx="5378390" cy="1152381"/>
          </a:xfrm>
          <a:prstGeom prst="rect">
            <a:avLst/>
          </a:prstGeom>
        </p:spPr>
      </p:pic>
    </p:spTree>
    <p:extLst>
      <p:ext uri="{BB962C8B-B14F-4D97-AF65-F5344CB8AC3E}">
        <p14:creationId xmlns:p14="http://schemas.microsoft.com/office/powerpoint/2010/main" val="283816970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E3921FFE-0C8E-4CDC-A06F-03EA2A404855}" type="datetimeFigureOut">
              <a:rPr lang="pt-BR" smtClean="0"/>
              <a:t>16/06/2026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34B46A2-E8C1-4DF7-A6B0-0FE2B6D4EDEA}" type="slidenum">
              <a:rPr lang="pt-BR" smtClean="0"/>
              <a:t>‹nº›</a:t>
            </a:fld>
            <a:endParaRPr lang="pt-BR"/>
          </a:p>
        </p:txBody>
      </p:sp>
      <p:pic>
        <p:nvPicPr>
          <p:cNvPr id="7" name="Imagem 6" descr="Logotipo&#10;&#10;Descrição gerada automaticamente">
            <a:extLst>
              <a:ext uri="{FF2B5EF4-FFF2-40B4-BE49-F238E27FC236}">
                <a16:creationId xmlns:a16="http://schemas.microsoft.com/office/drawing/2014/main" id="{3EB43183-E29A-193E-5C32-38DEF14BC8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8" name="Picture 2" descr="C:\Anderson\MateriaisAulas\FATEC\Coordenação\logos\logoFatec.png">
            <a:extLst>
              <a:ext uri="{FF2B5EF4-FFF2-40B4-BE49-F238E27FC236}">
                <a16:creationId xmlns:a16="http://schemas.microsoft.com/office/drawing/2014/main" id="{E53F555A-828A-8B46-D975-023EF9F0A3B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5459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bg1"/>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E3921FFE-0C8E-4CDC-A06F-03EA2A404855}" type="datetimeFigureOut">
              <a:rPr lang="pt-BR" smtClean="0"/>
              <a:t>16/06/2026</a:t>
            </a:fld>
            <a:endParaRPr lang="pt-B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pt-B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A34B46A2-E8C1-4DF7-A6B0-0FE2B6D4EDEA}" type="slidenum">
              <a:rPr lang="pt-BR" smtClean="0"/>
              <a:t>‹nº›</a:t>
            </a:fld>
            <a:endParaRPr lang="pt-BR"/>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pic>
        <p:nvPicPr>
          <p:cNvPr id="8" name="Imagem 7" descr="Logotipo&#10;&#10;Descrição gerada automaticamente">
            <a:extLst>
              <a:ext uri="{FF2B5EF4-FFF2-40B4-BE49-F238E27FC236}">
                <a16:creationId xmlns:a16="http://schemas.microsoft.com/office/drawing/2014/main" id="{13B050C0-90A2-124C-DA09-05C995FA47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9" name="Picture 2" descr="C:\Anderson\MateriaisAulas\FATEC\Coordenação\logos\logoFatec.png">
            <a:extLst>
              <a:ext uri="{FF2B5EF4-FFF2-40B4-BE49-F238E27FC236}">
                <a16:creationId xmlns:a16="http://schemas.microsoft.com/office/drawing/2014/main" id="{0CCBC458-17F8-10E7-D290-E0D70DF19F6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51089"/>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868818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pt-BR"/>
              <a:t>Clique para editar o título Mestre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E3921FFE-0C8E-4CDC-A06F-03EA2A404855}" type="datetimeFigureOut">
              <a:rPr lang="pt-BR" smtClean="0"/>
              <a:t>16/06/2026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A34B46A2-E8C1-4DF7-A6B0-0FE2B6D4EDEA}" type="slidenum">
              <a:rPr lang="pt-BR" smtClean="0"/>
              <a:t>‹nº›</a:t>
            </a:fld>
            <a:endParaRPr lang="pt-BR"/>
          </a:p>
        </p:txBody>
      </p:sp>
      <p:pic>
        <p:nvPicPr>
          <p:cNvPr id="10" name="Imagem 9" descr="Logotipo&#10;&#10;Descrição gerada automaticamente">
            <a:extLst>
              <a:ext uri="{FF2B5EF4-FFF2-40B4-BE49-F238E27FC236}">
                <a16:creationId xmlns:a16="http://schemas.microsoft.com/office/drawing/2014/main" id="{44A1E7B8-4CCB-9172-7582-357EB8FBCB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11" name="Picture 2" descr="C:\Anderson\MateriaisAulas\FATEC\Coordenação\logos\logoFatec.png">
            <a:extLst>
              <a:ext uri="{FF2B5EF4-FFF2-40B4-BE49-F238E27FC236}">
                <a16:creationId xmlns:a16="http://schemas.microsoft.com/office/drawing/2014/main" id="{683A8211-427E-C947-E50F-3A19D7329D6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9593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E3921FFE-0C8E-4CDC-A06F-03EA2A404855}" type="datetimeFigureOut">
              <a:rPr lang="pt-BR" smtClean="0"/>
              <a:t>16/06/2026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A34B46A2-E8C1-4DF7-A6B0-0FE2B6D4EDEA}" type="slidenum">
              <a:rPr lang="pt-BR" smtClean="0"/>
              <a:t>‹nº›</a:t>
            </a:fld>
            <a:endParaRPr lang="pt-BR"/>
          </a:p>
        </p:txBody>
      </p:sp>
      <p:pic>
        <p:nvPicPr>
          <p:cNvPr id="12" name="Imagem 11" descr="Logotipo&#10;&#10;Descrição gerada automaticamente">
            <a:extLst>
              <a:ext uri="{FF2B5EF4-FFF2-40B4-BE49-F238E27FC236}">
                <a16:creationId xmlns:a16="http://schemas.microsoft.com/office/drawing/2014/main" id="{5039C99E-9729-B239-D23F-FD5F0AB4EF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13" name="Picture 2" descr="C:\Anderson\MateriaisAulas\FATEC\Coordenação\logos\logoFatec.png">
            <a:extLst>
              <a:ext uri="{FF2B5EF4-FFF2-40B4-BE49-F238E27FC236}">
                <a16:creationId xmlns:a16="http://schemas.microsoft.com/office/drawing/2014/main" id="{614CCBC3-3E4C-F865-EAF4-B0853A4C90A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9438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E3921FFE-0C8E-4CDC-A06F-03EA2A404855}" type="datetimeFigureOut">
              <a:rPr lang="pt-BR" smtClean="0"/>
              <a:t>16/06/2026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A34B46A2-E8C1-4DF7-A6B0-0FE2B6D4EDEA}" type="slidenum">
              <a:rPr lang="pt-BR" smtClean="0"/>
              <a:t>‹nº›</a:t>
            </a:fld>
            <a:endParaRPr lang="pt-BR"/>
          </a:p>
        </p:txBody>
      </p:sp>
      <p:pic>
        <p:nvPicPr>
          <p:cNvPr id="8" name="Imagem 7" descr="Logotipo&#10;&#10;Descrição gerada automaticamente">
            <a:extLst>
              <a:ext uri="{FF2B5EF4-FFF2-40B4-BE49-F238E27FC236}">
                <a16:creationId xmlns:a16="http://schemas.microsoft.com/office/drawing/2014/main" id="{187D0A64-5985-CB9C-AFFF-20ABA29BB49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9" name="Picture 2" descr="C:\Anderson\MateriaisAulas\FATEC\Coordenação\logos\logoFatec.png">
            <a:extLst>
              <a:ext uri="{FF2B5EF4-FFF2-40B4-BE49-F238E27FC236}">
                <a16:creationId xmlns:a16="http://schemas.microsoft.com/office/drawing/2014/main" id="{70EE4532-62B8-3C75-BDA2-F01BFF58FBD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5158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921FFE-0C8E-4CDC-A06F-03EA2A404855}" type="datetimeFigureOut">
              <a:rPr lang="pt-BR" smtClean="0"/>
              <a:t>16/06/2026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A34B46A2-E8C1-4DF7-A6B0-0FE2B6D4EDEA}" type="slidenum">
              <a:rPr lang="pt-BR" smtClean="0"/>
              <a:t>‹nº›</a:t>
            </a:fld>
            <a:endParaRPr lang="pt-BR"/>
          </a:p>
        </p:txBody>
      </p:sp>
      <p:pic>
        <p:nvPicPr>
          <p:cNvPr id="7" name="Imagem 6" descr="Logotipo&#10;&#10;Descrição gerada automaticamente">
            <a:extLst>
              <a:ext uri="{FF2B5EF4-FFF2-40B4-BE49-F238E27FC236}">
                <a16:creationId xmlns:a16="http://schemas.microsoft.com/office/drawing/2014/main" id="{D9312479-41DE-4E0D-BE68-FC5C5EAE87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8" name="Picture 2" descr="C:\Anderson\MateriaisAulas\FATEC\Coordenação\logos\logoFatec.png">
            <a:extLst>
              <a:ext uri="{FF2B5EF4-FFF2-40B4-BE49-F238E27FC236}">
                <a16:creationId xmlns:a16="http://schemas.microsoft.com/office/drawing/2014/main" id="{98962566-D51C-544B-E275-3438E3B7261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3080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pt-BR"/>
              <a:t>Clique para editar o título Mestre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E3921FFE-0C8E-4CDC-A06F-03EA2A404855}" type="datetimeFigureOut">
              <a:rPr lang="pt-BR" smtClean="0"/>
              <a:t>16/06/2026</a:t>
            </a:fld>
            <a:endParaRPr lang="pt-B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pt-B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A34B46A2-E8C1-4DF7-A6B0-0FE2B6D4EDEA}" type="slidenum">
              <a:rPr lang="pt-BR" smtClean="0"/>
              <a:t>‹nº›</a:t>
            </a:fld>
            <a:endParaRPr lang="pt-B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Imagem 11" descr="Logotipo&#10;&#10;Descrição gerada automaticamente">
            <a:extLst>
              <a:ext uri="{FF2B5EF4-FFF2-40B4-BE49-F238E27FC236}">
                <a16:creationId xmlns:a16="http://schemas.microsoft.com/office/drawing/2014/main" id="{98B2AD2B-8F45-BB20-FA78-CCD1858C7E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13" name="Picture 2" descr="C:\Anderson\MateriaisAulas\FATEC\Coordenação\logos\logoFatec.png">
            <a:extLst>
              <a:ext uri="{FF2B5EF4-FFF2-40B4-BE49-F238E27FC236}">
                <a16:creationId xmlns:a16="http://schemas.microsoft.com/office/drawing/2014/main" id="{48F69B24-F5E3-C2C3-F206-E5581F3D7CAE}"/>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2780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5532120" y="531379"/>
            <a:ext cx="6659880" cy="6326620"/>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dirty="0"/>
              <a:t>Clique no ícone para adicionar uma imagem</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E3921FFE-0C8E-4CDC-A06F-03EA2A404855}" type="datetimeFigureOut">
              <a:rPr lang="pt-BR" smtClean="0"/>
              <a:t>16/06/2026</a:t>
            </a:fld>
            <a:endParaRPr lang="pt-B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pt-B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A34B46A2-E8C1-4DF7-A6B0-0FE2B6D4EDEA}" type="slidenum">
              <a:rPr lang="pt-BR" smtClean="0"/>
              <a:t>‹nº›</a:t>
            </a:fld>
            <a:endParaRPr lang="pt-B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Imagem 11" descr="Logotipo&#10;&#10;Descrição gerada automaticamente">
            <a:extLst>
              <a:ext uri="{FF2B5EF4-FFF2-40B4-BE49-F238E27FC236}">
                <a16:creationId xmlns:a16="http://schemas.microsoft.com/office/drawing/2014/main" id="{C2BFCCC7-C805-A317-B0CB-9B0705F542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13" name="Picture 2" descr="C:\Anderson\MateriaisAulas\FATEC\Coordenação\logos\logoFatec.png">
            <a:extLst>
              <a:ext uri="{FF2B5EF4-FFF2-40B4-BE49-F238E27FC236}">
                <a16:creationId xmlns:a16="http://schemas.microsoft.com/office/drawing/2014/main" id="{FD742EE9-ACB5-C58F-2105-4F95100B3DE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8254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E3921FFE-0C8E-4CDC-A06F-03EA2A404855}" type="datetimeFigureOut">
              <a:rPr lang="pt-BR" smtClean="0"/>
              <a:t>16/06/2026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34B46A2-E8C1-4DF7-A6B0-0FE2B6D4EDEA}" type="slidenum">
              <a:rPr lang="pt-BR" smtClean="0"/>
              <a:t>‹nº›</a:t>
            </a:fld>
            <a:endParaRPr lang="pt-BR"/>
          </a:p>
        </p:txBody>
      </p:sp>
      <p:pic>
        <p:nvPicPr>
          <p:cNvPr id="9" name="Imagem 8" descr="Logotipo&#10;&#10;Descrição gerada automaticamente">
            <a:extLst>
              <a:ext uri="{FF2B5EF4-FFF2-40B4-BE49-F238E27FC236}">
                <a16:creationId xmlns:a16="http://schemas.microsoft.com/office/drawing/2014/main" id="{D9BDB7B5-65AF-E9B6-5FDC-826215EF2C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10" name="Picture 2" descr="C:\Anderson\MateriaisAulas\FATEC\Coordenação\logos\logoFatec.png">
            <a:extLst>
              <a:ext uri="{FF2B5EF4-FFF2-40B4-BE49-F238E27FC236}">
                <a16:creationId xmlns:a16="http://schemas.microsoft.com/office/drawing/2014/main" id="{018BB257-BFF8-97AA-2A0E-35234B14894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1032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E3921FFE-0C8E-4CDC-A06F-03EA2A404855}" type="datetimeFigureOut">
              <a:rPr lang="pt-BR" smtClean="0"/>
              <a:t>16/06/2026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34B46A2-E8C1-4DF7-A6B0-0FE2B6D4EDEA}" type="slidenum">
              <a:rPr lang="pt-BR" smtClean="0"/>
              <a:t>‹nº›</a:t>
            </a:fld>
            <a:endParaRPr lang="pt-BR"/>
          </a:p>
        </p:txBody>
      </p:sp>
      <p:pic>
        <p:nvPicPr>
          <p:cNvPr id="9" name="Imagem 8" descr="Logotipo&#10;&#10;Descrição gerada automaticamente">
            <a:extLst>
              <a:ext uri="{FF2B5EF4-FFF2-40B4-BE49-F238E27FC236}">
                <a16:creationId xmlns:a16="http://schemas.microsoft.com/office/drawing/2014/main" id="{F50CFBF5-A489-9C35-6D51-A6146E81BE7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10" name="Picture 2" descr="C:\Anderson\MateriaisAulas\FATEC\Coordenação\logos\logoFatec.png">
            <a:extLst>
              <a:ext uri="{FF2B5EF4-FFF2-40B4-BE49-F238E27FC236}">
                <a16:creationId xmlns:a16="http://schemas.microsoft.com/office/drawing/2014/main" id="{25649C2C-C87C-5F36-C386-406DF0F7820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9266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pt-BR"/>
              <a:t>Clique para editar o título Mestre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E3921FFE-0C8E-4CDC-A06F-03EA2A404855}" type="datetimeFigureOut">
              <a:rPr lang="pt-BR" smtClean="0"/>
              <a:t>16/06/2026</a:t>
            </a:fld>
            <a:endParaRPr lang="pt-B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pt-B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A34B46A2-E8C1-4DF7-A6B0-0FE2B6D4EDEA}" type="slidenum">
              <a:rPr lang="pt-BR" smtClean="0"/>
              <a:t>‹nº›</a:t>
            </a:fld>
            <a:endParaRPr lang="pt-BR"/>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Imagem 6" descr="Logotipo&#10;&#10;Descrição gerada automaticamente">
            <a:extLst>
              <a:ext uri="{FF2B5EF4-FFF2-40B4-BE49-F238E27FC236}">
                <a16:creationId xmlns:a16="http://schemas.microsoft.com/office/drawing/2014/main" id="{C48A4048-DFD3-A06D-5C62-F7CDC6B921D7}"/>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783845" y="-22802"/>
            <a:ext cx="2586472" cy="554181"/>
          </a:xfrm>
          <a:prstGeom prst="rect">
            <a:avLst/>
          </a:prstGeom>
        </p:spPr>
      </p:pic>
      <p:pic>
        <p:nvPicPr>
          <p:cNvPr id="8" name="Picture 2" descr="C:\Anderson\MateriaisAulas\FATEC\Coordenação\logos\logoFatec.png">
            <a:extLst>
              <a:ext uri="{FF2B5EF4-FFF2-40B4-BE49-F238E27FC236}">
                <a16:creationId xmlns:a16="http://schemas.microsoft.com/office/drawing/2014/main" id="{4D8FA285-079F-BF82-5BC0-2F7FD13A9B16}"/>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8935859" y="-22802"/>
            <a:ext cx="1073754" cy="47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80766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0D29343-609A-FE48-136F-56F06A17714C}"/>
              </a:ext>
            </a:extLst>
          </p:cNvPr>
          <p:cNvSpPr>
            <a:spLocks noGrp="1"/>
          </p:cNvSpPr>
          <p:nvPr>
            <p:ph type="ctrTitle"/>
          </p:nvPr>
        </p:nvSpPr>
        <p:spPr/>
        <p:txBody>
          <a:bodyPr/>
          <a:lstStyle/>
          <a:p>
            <a:r>
              <a:rPr lang="pt-BR" dirty="0"/>
              <a:t>Sistema Web de Gestão de Pesquisas por Questionários</a:t>
            </a:r>
          </a:p>
        </p:txBody>
      </p:sp>
      <p:sp>
        <p:nvSpPr>
          <p:cNvPr id="5" name="Subtítulo 4">
            <a:extLst>
              <a:ext uri="{FF2B5EF4-FFF2-40B4-BE49-F238E27FC236}">
                <a16:creationId xmlns:a16="http://schemas.microsoft.com/office/drawing/2014/main" id="{76466BC2-6F7B-0039-EB20-86BD3EB66683}"/>
              </a:ext>
            </a:extLst>
          </p:cNvPr>
          <p:cNvSpPr>
            <a:spLocks noGrp="1"/>
          </p:cNvSpPr>
          <p:nvPr>
            <p:ph type="subTitle" idx="1"/>
          </p:nvPr>
        </p:nvSpPr>
        <p:spPr>
          <a:xfrm>
            <a:off x="2187388" y="3956279"/>
            <a:ext cx="7324191" cy="1610803"/>
          </a:xfrm>
        </p:spPr>
        <p:txBody>
          <a:bodyPr>
            <a:normAutofit fontScale="32500" lnSpcReduction="20000"/>
          </a:bodyPr>
          <a:lstStyle/>
          <a:p>
            <a:r>
              <a:rPr lang="pt-PT" sz="3500" b="1" dirty="0"/>
              <a:t>Giovanni Vieira Pereira da Silva </a:t>
            </a:r>
            <a:br>
              <a:rPr lang="pt-PT" sz="3500" b="1" dirty="0"/>
            </a:br>
            <a:r>
              <a:rPr lang="pt-PT" sz="3500" b="1" dirty="0"/>
              <a:t>Gustavo Martins da Silva Ilescas </a:t>
            </a:r>
            <a:br>
              <a:rPr lang="pt-PT" sz="3500" b="1" dirty="0"/>
            </a:br>
            <a:r>
              <a:rPr lang="pt-PT" sz="3500" b="1" dirty="0"/>
              <a:t>Matheus Gabriel dos Santos </a:t>
            </a:r>
            <a:br>
              <a:rPr lang="pt-PT" sz="3500" b="1" dirty="0"/>
            </a:br>
            <a:r>
              <a:rPr lang="pt-PT" sz="3500" b="1" dirty="0"/>
              <a:t>Silva Alex Marola Barbosa Junior</a:t>
            </a:r>
            <a:endParaRPr lang="pt-BR" sz="3500" dirty="0"/>
          </a:p>
          <a:p>
            <a:r>
              <a:rPr lang="pt-PT" sz="3500" b="1" dirty="0"/>
              <a:t>Erick Gustavo Miiller Dos Santos</a:t>
            </a:r>
            <a:br>
              <a:rPr lang="pt-PT" sz="3500" b="1" dirty="0"/>
            </a:br>
            <a:r>
              <a:rPr lang="pt-PT" sz="3500" b="1" dirty="0"/>
              <a:t>Wagner Alves de Sousa</a:t>
            </a:r>
            <a:br>
              <a:rPr lang="pt-PT" sz="3500" b="1" dirty="0"/>
            </a:br>
            <a:r>
              <a:rPr lang="pt-PT" sz="3500" b="1" dirty="0"/>
              <a:t>Gabriel (coloca seu nome completo pq eu nao lembro de cor)</a:t>
            </a:r>
            <a:endParaRPr lang="pt-BR" sz="3500" dirty="0"/>
          </a:p>
          <a:p>
            <a:endParaRPr lang="pt-BR" dirty="0"/>
          </a:p>
          <a:p>
            <a:r>
              <a:rPr lang="pt-BR" sz="3800" dirty="0"/>
              <a:t>Pitch de Proposta de Solução</a:t>
            </a:r>
          </a:p>
          <a:p>
            <a:endParaRPr lang="pt-BR" dirty="0"/>
          </a:p>
        </p:txBody>
      </p:sp>
    </p:spTree>
    <p:extLst>
      <p:ext uri="{BB962C8B-B14F-4D97-AF65-F5344CB8AC3E}">
        <p14:creationId xmlns:p14="http://schemas.microsoft.com/office/powerpoint/2010/main" val="978197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A92F927E-680E-8C3E-68A8-EB61BC077B1C}"/>
              </a:ext>
            </a:extLst>
          </p:cNvPr>
          <p:cNvSpPr>
            <a:spLocks noGrp="1"/>
          </p:cNvSpPr>
          <p:nvPr>
            <p:ph type="title"/>
          </p:nvPr>
        </p:nvSpPr>
        <p:spPr/>
        <p:txBody>
          <a:bodyPr/>
          <a:lstStyle/>
          <a:p>
            <a:r>
              <a:rPr lang="pt-BR" dirty="0"/>
              <a:t>O Problema</a:t>
            </a:r>
          </a:p>
        </p:txBody>
      </p:sp>
      <p:sp>
        <p:nvSpPr>
          <p:cNvPr id="8" name="Espaço Reservado para Conteúdo 7">
            <a:extLst>
              <a:ext uri="{FF2B5EF4-FFF2-40B4-BE49-F238E27FC236}">
                <a16:creationId xmlns:a16="http://schemas.microsoft.com/office/drawing/2014/main" id="{4A967058-DCD9-8ED6-26FD-70ED14926AC6}"/>
              </a:ext>
            </a:extLst>
          </p:cNvPr>
          <p:cNvSpPr>
            <a:spLocks noGrp="1"/>
          </p:cNvSpPr>
          <p:nvPr>
            <p:ph idx="1"/>
          </p:nvPr>
        </p:nvSpPr>
        <p:spPr/>
        <p:txBody>
          <a:bodyPr/>
          <a:lstStyle/>
          <a:p>
            <a:pPr marL="0" indent="0">
              <a:buNone/>
            </a:pPr>
            <a:r>
              <a:rPr lang="pt-BR" dirty="0"/>
              <a:t>Hoje temos diversos sistemas web que nos permite gerenciar pesquisas, mas muitos deles têm suas algumas de suas funções travadas por trás de pacotes pagos, recursos que fazem falta na hora de entregar relatórios e pesquisas de excelência, além disso alguns desses podem acabar por não existirem entre aplicativos do mesmo escopo e, para instituições que buscam facilidade e transparência nos recursos disponíveis para uso é vital que tenhamos uma boa alternativa open-source a disposição</a:t>
            </a:r>
          </a:p>
        </p:txBody>
      </p:sp>
    </p:spTree>
    <p:extLst>
      <p:ext uri="{BB962C8B-B14F-4D97-AF65-F5344CB8AC3E}">
        <p14:creationId xmlns:p14="http://schemas.microsoft.com/office/powerpoint/2010/main" val="951509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19AC6-4D65-5C7F-D5F8-D4624AE1ED27}"/>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4B84B6E8-CC76-3FD3-B7E1-359CAE8BC0D3}"/>
              </a:ext>
            </a:extLst>
          </p:cNvPr>
          <p:cNvSpPr>
            <a:spLocks noGrp="1"/>
          </p:cNvSpPr>
          <p:nvPr>
            <p:ph type="title"/>
          </p:nvPr>
        </p:nvSpPr>
        <p:spPr/>
        <p:txBody>
          <a:bodyPr/>
          <a:lstStyle/>
          <a:p>
            <a:r>
              <a:rPr lang="pt-BR" dirty="0"/>
              <a:t>A Oportunidade</a:t>
            </a:r>
          </a:p>
        </p:txBody>
      </p:sp>
      <p:sp>
        <p:nvSpPr>
          <p:cNvPr id="8" name="Espaço Reservado para Conteúdo 7">
            <a:extLst>
              <a:ext uri="{FF2B5EF4-FFF2-40B4-BE49-F238E27FC236}">
                <a16:creationId xmlns:a16="http://schemas.microsoft.com/office/drawing/2014/main" id="{6066FDCA-D90E-B8CA-3385-B7C714862520}"/>
              </a:ext>
            </a:extLst>
          </p:cNvPr>
          <p:cNvSpPr>
            <a:spLocks noGrp="1"/>
          </p:cNvSpPr>
          <p:nvPr>
            <p:ph idx="1"/>
          </p:nvPr>
        </p:nvSpPr>
        <p:spPr/>
        <p:txBody>
          <a:bodyPr/>
          <a:lstStyle/>
          <a:p>
            <a:r>
              <a:rPr lang="pt-PT" dirty="0"/>
              <a:t>Dado que esses recursos podem ser acessíveis ou não, precisamos de um sistema capaz de entregar os recursos anonima, gratuita e funcional. O sistema a ser desenvolvido deverá permitir a criação, aplicação e análise de pesquisas institucionais, garantindo anonimato dos participantes e organização das respostas por categorias de respondentes.</a:t>
            </a:r>
            <a:endParaRPr lang="pt-BR" dirty="0"/>
          </a:p>
          <a:p>
            <a:pPr marL="0" indent="0">
              <a:buNone/>
            </a:pPr>
            <a:endParaRPr lang="pt-BR" dirty="0"/>
          </a:p>
        </p:txBody>
      </p:sp>
    </p:spTree>
    <p:extLst>
      <p:ext uri="{BB962C8B-B14F-4D97-AF65-F5344CB8AC3E}">
        <p14:creationId xmlns:p14="http://schemas.microsoft.com/office/powerpoint/2010/main" val="362802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132AE-C672-E750-9EF1-A166A37724CF}"/>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2A4BB4DC-57D2-78AC-5E70-26F9A07E6E36}"/>
              </a:ext>
            </a:extLst>
          </p:cNvPr>
          <p:cNvSpPr>
            <a:spLocks noGrp="1"/>
          </p:cNvSpPr>
          <p:nvPr>
            <p:ph type="title"/>
          </p:nvPr>
        </p:nvSpPr>
        <p:spPr/>
        <p:txBody>
          <a:bodyPr/>
          <a:lstStyle/>
          <a:p>
            <a:r>
              <a:rPr lang="pt-BR" dirty="0"/>
              <a:t>A Solução</a:t>
            </a:r>
          </a:p>
        </p:txBody>
      </p:sp>
      <p:sp>
        <p:nvSpPr>
          <p:cNvPr id="8" name="Espaço Reservado para Conteúdo 7">
            <a:extLst>
              <a:ext uri="{FF2B5EF4-FFF2-40B4-BE49-F238E27FC236}">
                <a16:creationId xmlns:a16="http://schemas.microsoft.com/office/drawing/2014/main" id="{F5DC6466-3F8D-3CF1-AECC-B49537CEDFAD}"/>
              </a:ext>
            </a:extLst>
          </p:cNvPr>
          <p:cNvSpPr>
            <a:spLocks noGrp="1"/>
          </p:cNvSpPr>
          <p:nvPr>
            <p:ph idx="1"/>
          </p:nvPr>
        </p:nvSpPr>
        <p:spPr>
          <a:xfrm>
            <a:off x="1371600" y="2562726"/>
            <a:ext cx="9601200" cy="2438400"/>
          </a:xfrm>
        </p:spPr>
        <p:txBody>
          <a:bodyPr>
            <a:normAutofit fontScale="85000" lnSpcReduction="20000"/>
          </a:bodyPr>
          <a:lstStyle/>
          <a:p>
            <a:pPr lvl="0"/>
            <a:r>
              <a:rPr lang="pt-PT" dirty="0"/>
              <a:t>Cadastro e gerenciamento de pesquisas</a:t>
            </a:r>
            <a:endParaRPr lang="pt-BR" dirty="0"/>
          </a:p>
          <a:p>
            <a:pPr lvl="0"/>
            <a:r>
              <a:rPr lang="pt-PT" dirty="0"/>
              <a:t>Definição de categorias de participantes</a:t>
            </a:r>
            <a:endParaRPr lang="pt-BR" dirty="0"/>
          </a:p>
          <a:p>
            <a:pPr lvl="0"/>
            <a:r>
              <a:rPr lang="pt-PT" dirty="0"/>
              <a:t>Criação de questionários específicos por categoria</a:t>
            </a:r>
            <a:endParaRPr lang="pt-BR" dirty="0"/>
          </a:p>
          <a:p>
            <a:pPr lvl="0"/>
            <a:r>
              <a:rPr lang="pt-PT" dirty="0"/>
              <a:t>Aplicação da pesquisa com acesso por senha anônima</a:t>
            </a:r>
            <a:endParaRPr lang="pt-BR" dirty="0"/>
          </a:p>
          <a:p>
            <a:pPr lvl="0"/>
            <a:r>
              <a:rPr lang="pt-PT" dirty="0"/>
              <a:t>Coleta e armazenamento das respostas</a:t>
            </a:r>
            <a:endParaRPr lang="pt-BR" dirty="0"/>
          </a:p>
          <a:p>
            <a:pPr lvl="0"/>
            <a:r>
              <a:rPr lang="pt-PT" dirty="0"/>
              <a:t>Monitoramento da participação</a:t>
            </a:r>
            <a:endParaRPr lang="pt-BR" dirty="0"/>
          </a:p>
          <a:p>
            <a:pPr lvl="0"/>
            <a:r>
              <a:rPr lang="pt-PT" dirty="0"/>
              <a:t>Geração de relatórios estatísticos</a:t>
            </a:r>
            <a:endParaRPr lang="pt-BR" dirty="0"/>
          </a:p>
          <a:p>
            <a:endParaRPr lang="pt-BR" dirty="0"/>
          </a:p>
        </p:txBody>
      </p:sp>
      <p:sp>
        <p:nvSpPr>
          <p:cNvPr id="6" name="TextBox 5">
            <a:extLst>
              <a:ext uri="{FF2B5EF4-FFF2-40B4-BE49-F238E27FC236}">
                <a16:creationId xmlns:a16="http://schemas.microsoft.com/office/drawing/2014/main" id="{F5DB9056-DE66-856F-230F-3A2C9FD90438}"/>
              </a:ext>
            </a:extLst>
          </p:cNvPr>
          <p:cNvSpPr txBox="1"/>
          <p:nvPr/>
        </p:nvSpPr>
        <p:spPr>
          <a:xfrm>
            <a:off x="1371600" y="1802368"/>
            <a:ext cx="8391208" cy="369332"/>
          </a:xfrm>
          <a:prstGeom prst="rect">
            <a:avLst/>
          </a:prstGeom>
          <a:noFill/>
        </p:spPr>
        <p:txBody>
          <a:bodyPr wrap="none" rtlCol="0">
            <a:spAutoFit/>
          </a:bodyPr>
          <a:lstStyle/>
          <a:p>
            <a:r>
              <a:rPr lang="pt-BR" dirty="0"/>
              <a:t>Desenvolver um sistema web para gestão de pesquisas por questionario, permitindo</a:t>
            </a:r>
          </a:p>
        </p:txBody>
      </p:sp>
    </p:spTree>
    <p:extLst>
      <p:ext uri="{BB962C8B-B14F-4D97-AF65-F5344CB8AC3E}">
        <p14:creationId xmlns:p14="http://schemas.microsoft.com/office/powerpoint/2010/main" val="1132158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4BB74-95FB-0DED-8F13-7541B25B8D09}"/>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1128C25D-7645-4ACB-8897-D1B0A7B69799}"/>
              </a:ext>
            </a:extLst>
          </p:cNvPr>
          <p:cNvSpPr>
            <a:spLocks noGrp="1"/>
          </p:cNvSpPr>
          <p:nvPr>
            <p:ph type="title"/>
          </p:nvPr>
        </p:nvSpPr>
        <p:spPr/>
        <p:txBody>
          <a:bodyPr/>
          <a:lstStyle/>
          <a:p>
            <a:r>
              <a:rPr lang="pt-BR" dirty="0"/>
              <a:t>Diferenciais da Solução</a:t>
            </a:r>
          </a:p>
        </p:txBody>
      </p:sp>
      <p:sp>
        <p:nvSpPr>
          <p:cNvPr id="8" name="Espaço Reservado para Conteúdo 7">
            <a:extLst>
              <a:ext uri="{FF2B5EF4-FFF2-40B4-BE49-F238E27FC236}">
                <a16:creationId xmlns:a16="http://schemas.microsoft.com/office/drawing/2014/main" id="{90563FB1-ADF3-31CE-E4E8-A2FD436EA491}"/>
              </a:ext>
            </a:extLst>
          </p:cNvPr>
          <p:cNvSpPr>
            <a:spLocks noGrp="1"/>
          </p:cNvSpPr>
          <p:nvPr>
            <p:ph idx="1"/>
          </p:nvPr>
        </p:nvSpPr>
        <p:spPr/>
        <p:txBody>
          <a:bodyPr/>
          <a:lstStyle/>
          <a:p>
            <a:r>
              <a:rPr lang="pt-BR" dirty="0"/>
              <a:t>Totalmente Open Source</a:t>
            </a:r>
          </a:p>
          <a:p>
            <a:r>
              <a:rPr lang="pt-BR" dirty="0"/>
              <a:t>Recursos Gratuitos e Sem Restrições</a:t>
            </a:r>
          </a:p>
          <a:p>
            <a:r>
              <a:rPr lang="pt-BR" dirty="0"/>
              <a:t>Anonimato Garantido</a:t>
            </a:r>
          </a:p>
          <a:p>
            <a:r>
              <a:rPr lang="pt-BR" dirty="0"/>
              <a:t>Monitoramento em Tempo Real</a:t>
            </a:r>
          </a:p>
          <a:p>
            <a:r>
              <a:rPr lang="pt-BR" dirty="0"/>
              <a:t>Interface Simples e Intuitiva</a:t>
            </a:r>
          </a:p>
          <a:p>
            <a:r>
              <a:rPr lang="pt-BR" dirty="0"/>
              <a:t>Foco em Instituições de Ensino e Organizações</a:t>
            </a:r>
          </a:p>
        </p:txBody>
      </p:sp>
    </p:spTree>
    <p:extLst>
      <p:ext uri="{BB962C8B-B14F-4D97-AF65-F5344CB8AC3E}">
        <p14:creationId xmlns:p14="http://schemas.microsoft.com/office/powerpoint/2010/main" val="3222181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6F84B-09B4-336B-B4E2-49EFBCE92A78}"/>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82157D60-2C32-13D0-9157-81670F86C074}"/>
              </a:ext>
            </a:extLst>
          </p:cNvPr>
          <p:cNvSpPr>
            <a:spLocks noGrp="1"/>
          </p:cNvSpPr>
          <p:nvPr>
            <p:ph type="title"/>
          </p:nvPr>
        </p:nvSpPr>
        <p:spPr/>
        <p:txBody>
          <a:bodyPr/>
          <a:lstStyle/>
          <a:p>
            <a:r>
              <a:rPr lang="pt-BR" dirty="0"/>
              <a:t>Como Funciona</a:t>
            </a:r>
          </a:p>
        </p:txBody>
      </p:sp>
      <p:sp>
        <p:nvSpPr>
          <p:cNvPr id="8" name="Espaço Reservado para Conteúdo 7">
            <a:extLst>
              <a:ext uri="{FF2B5EF4-FFF2-40B4-BE49-F238E27FC236}">
                <a16:creationId xmlns:a16="http://schemas.microsoft.com/office/drawing/2014/main" id="{24373CDE-8EA1-0296-0249-6291B66F8312}"/>
              </a:ext>
            </a:extLst>
          </p:cNvPr>
          <p:cNvSpPr>
            <a:spLocks noGrp="1"/>
          </p:cNvSpPr>
          <p:nvPr>
            <p:ph idx="1"/>
          </p:nvPr>
        </p:nvSpPr>
        <p:spPr/>
        <p:txBody>
          <a:bodyPr/>
          <a:lstStyle/>
          <a:p>
            <a:r>
              <a:rPr lang="pt-BR" dirty="0"/>
              <a:t>Os gestores criam pesquisas e questionários, geram senhas anônimas para os participantes e acompanham as respostas por meio de um dashboard. Os participantes acessam o sistema com sua senha, respondem ao questionário correspondente à sua categoria e têm suas respostas armazenadas de forma segura e anônima. Ao final de toda pesquisa, o sistema gera e armazena internamente relatórios e gráficos essenciais para análise dos resultados.</a:t>
            </a:r>
          </a:p>
        </p:txBody>
      </p:sp>
    </p:spTree>
    <p:extLst>
      <p:ext uri="{BB962C8B-B14F-4D97-AF65-F5344CB8AC3E}">
        <p14:creationId xmlns:p14="http://schemas.microsoft.com/office/powerpoint/2010/main" val="2839313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AE557-82AF-038C-1641-315083783C10}"/>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B0B20D98-07B2-A976-1659-5BD70DD3E395}"/>
              </a:ext>
            </a:extLst>
          </p:cNvPr>
          <p:cNvSpPr>
            <a:spLocks noGrp="1"/>
          </p:cNvSpPr>
          <p:nvPr>
            <p:ph type="title"/>
          </p:nvPr>
        </p:nvSpPr>
        <p:spPr/>
        <p:txBody>
          <a:bodyPr/>
          <a:lstStyle/>
          <a:p>
            <a:r>
              <a:rPr lang="pt-BR" dirty="0"/>
              <a:t>Público-Alvo</a:t>
            </a:r>
          </a:p>
        </p:txBody>
      </p:sp>
      <p:sp>
        <p:nvSpPr>
          <p:cNvPr id="8" name="Espaço Reservado para Conteúdo 7">
            <a:extLst>
              <a:ext uri="{FF2B5EF4-FFF2-40B4-BE49-F238E27FC236}">
                <a16:creationId xmlns:a16="http://schemas.microsoft.com/office/drawing/2014/main" id="{B3C965DC-2386-D95F-2247-6E63C22BBBAC}"/>
              </a:ext>
            </a:extLst>
          </p:cNvPr>
          <p:cNvSpPr>
            <a:spLocks noGrp="1"/>
          </p:cNvSpPr>
          <p:nvPr>
            <p:ph idx="1"/>
          </p:nvPr>
        </p:nvSpPr>
        <p:spPr/>
        <p:txBody>
          <a:bodyPr/>
          <a:lstStyle/>
          <a:p>
            <a:r>
              <a:rPr lang="pt-BR" dirty="0"/>
              <a:t>O sistema é destinado principalmente a instituições de ensino, incluindo escolas de educação básica, cursos técnicos, faculdades e universidades. Seu uso é voltado para gestores educacionais que necessitam aplicar pesquisas, avaliações e levantamentos de opinião de forma organizada, segura e anônima, envolvendo alunos, professores e colaboradores. A plataforma auxilia na coleta de dados e na geração de informações que apoiam a tomada de decisões e a melhoria contínua da instituição.</a:t>
            </a:r>
          </a:p>
        </p:txBody>
      </p:sp>
    </p:spTree>
    <p:extLst>
      <p:ext uri="{BB962C8B-B14F-4D97-AF65-F5344CB8AC3E}">
        <p14:creationId xmlns:p14="http://schemas.microsoft.com/office/powerpoint/2010/main" val="4019579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0CA61-5244-49AA-5ACC-67E0506D0180}"/>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F030C29A-C2DD-B7E9-5FF2-B9D89FF4EE40}"/>
              </a:ext>
            </a:extLst>
          </p:cNvPr>
          <p:cNvSpPr>
            <a:spLocks noGrp="1"/>
          </p:cNvSpPr>
          <p:nvPr>
            <p:ph type="title"/>
          </p:nvPr>
        </p:nvSpPr>
        <p:spPr>
          <a:xfrm>
            <a:off x="961402" y="386698"/>
            <a:ext cx="9601200" cy="1485900"/>
          </a:xfrm>
        </p:spPr>
        <p:txBody>
          <a:bodyPr/>
          <a:lstStyle/>
          <a:p>
            <a:r>
              <a:rPr lang="pt-BR" dirty="0"/>
              <a:t>Benefícios</a:t>
            </a:r>
          </a:p>
        </p:txBody>
      </p:sp>
      <p:sp>
        <p:nvSpPr>
          <p:cNvPr id="8" name="Espaço Reservado para Conteúdo 7">
            <a:extLst>
              <a:ext uri="{FF2B5EF4-FFF2-40B4-BE49-F238E27FC236}">
                <a16:creationId xmlns:a16="http://schemas.microsoft.com/office/drawing/2014/main" id="{B99EF649-BE50-42B9-E3E2-AEC2785A135D}"/>
              </a:ext>
            </a:extLst>
          </p:cNvPr>
          <p:cNvSpPr>
            <a:spLocks noGrp="1"/>
          </p:cNvSpPr>
          <p:nvPr>
            <p:ph idx="1"/>
          </p:nvPr>
        </p:nvSpPr>
        <p:spPr>
          <a:xfrm>
            <a:off x="1100272" y="1320324"/>
            <a:ext cx="4995728" cy="3935339"/>
          </a:xfrm>
        </p:spPr>
        <p:txBody>
          <a:bodyPr>
            <a:normAutofit fontScale="25000" lnSpcReduction="20000"/>
          </a:bodyPr>
          <a:lstStyle/>
          <a:p>
            <a:r>
              <a:rPr lang="pt-BR" sz="7200" b="1" dirty="0"/>
              <a:t>Para a Instituição:</a:t>
            </a:r>
            <a:endParaRPr lang="pt-BR" sz="7200" dirty="0"/>
          </a:p>
          <a:p>
            <a:r>
              <a:rPr lang="pt-BR" sz="6400" dirty="0"/>
              <a:t>Garantia de anonimato durante o preenchimento das pesquisas.</a:t>
            </a:r>
          </a:p>
          <a:p>
            <a:r>
              <a:rPr lang="pt-BR" sz="6400" dirty="0"/>
              <a:t>Interface simples e intuitiva para responder questionários.</a:t>
            </a:r>
          </a:p>
          <a:p>
            <a:r>
              <a:rPr lang="pt-BR" sz="6400" dirty="0"/>
              <a:t>Acesso rápido por meio de senha individual.</a:t>
            </a:r>
          </a:p>
          <a:p>
            <a:pPr>
              <a:lnSpc>
                <a:spcPct val="170000"/>
              </a:lnSpc>
            </a:pPr>
            <a:r>
              <a:rPr lang="pt-BR" sz="6400" dirty="0"/>
              <a:t>Maior confiança para fornecer opiniões e avaliações sinceras.</a:t>
            </a:r>
          </a:p>
          <a:p>
            <a:r>
              <a:rPr lang="pt-BR" sz="6400" dirty="0"/>
              <a:t>Questionários personalizados de acordo com sua categoria (aluno, professor ou colaborador).</a:t>
            </a:r>
          </a:p>
          <a:p>
            <a:r>
              <a:rPr lang="pt-BR" sz="6400" dirty="0"/>
              <a:t>Possibilidade de contribuir diretamente para melhorias na instituição.</a:t>
            </a:r>
          </a:p>
          <a:p>
            <a:r>
              <a:rPr lang="pt-BR" sz="6400" dirty="0"/>
              <a:t>Processo de resposta rápido e acessível em diferentes dispositivos.</a:t>
            </a:r>
          </a:p>
          <a:p>
            <a:endParaRPr lang="pt-BR" dirty="0"/>
          </a:p>
        </p:txBody>
      </p:sp>
      <p:sp>
        <p:nvSpPr>
          <p:cNvPr id="13" name="TextBox 12">
            <a:extLst>
              <a:ext uri="{FF2B5EF4-FFF2-40B4-BE49-F238E27FC236}">
                <a16:creationId xmlns:a16="http://schemas.microsoft.com/office/drawing/2014/main" id="{C84FDAFD-09BD-D3D2-17AA-A9F22981A555}"/>
              </a:ext>
            </a:extLst>
          </p:cNvPr>
          <p:cNvSpPr txBox="1"/>
          <p:nvPr/>
        </p:nvSpPr>
        <p:spPr>
          <a:xfrm>
            <a:off x="6096000" y="1320324"/>
            <a:ext cx="5709302" cy="4032899"/>
          </a:xfrm>
          <a:prstGeom prst="rect">
            <a:avLst/>
          </a:prstGeom>
          <a:noFill/>
        </p:spPr>
        <p:txBody>
          <a:bodyPr wrap="square" rtlCol="0">
            <a:spAutoFit/>
          </a:bodyPr>
          <a:lstStyle/>
          <a:p>
            <a:pPr marL="384048" indent="-384048" defTabSz="914400">
              <a:lnSpc>
                <a:spcPct val="80000"/>
              </a:lnSpc>
              <a:spcBef>
                <a:spcPts val="1000"/>
              </a:spcBef>
              <a:spcAft>
                <a:spcPts val="200"/>
              </a:spcAft>
              <a:buFont typeface="Franklin Gothic Book" panose="020B0503020102020204" pitchFamily="34" charset="0"/>
              <a:buChar char="■"/>
            </a:pPr>
            <a:r>
              <a:rPr lang="pt-BR" b="1" dirty="0">
                <a:solidFill>
                  <a:schemeClr val="tx2"/>
                </a:solidFill>
              </a:rPr>
              <a:t>Para os participantes:</a:t>
            </a:r>
          </a:p>
          <a:p>
            <a:pPr marL="384048" indent="-384048" defTabSz="914400">
              <a:lnSpc>
                <a:spcPct val="80000"/>
              </a:lnSpc>
              <a:spcBef>
                <a:spcPts val="1000"/>
              </a:spcBef>
              <a:spcAft>
                <a:spcPts val="200"/>
              </a:spcAft>
              <a:buFont typeface="Franklin Gothic Book" panose="020B0503020102020204" pitchFamily="34" charset="0"/>
              <a:buChar char="■"/>
            </a:pPr>
            <a:r>
              <a:rPr lang="pt-BR" sz="1600" dirty="0">
                <a:solidFill>
                  <a:schemeClr val="tx2"/>
                </a:solidFill>
              </a:rPr>
              <a:t>Garantia de anonimato durante o preenchimento das pesquisas.</a:t>
            </a:r>
          </a:p>
          <a:p>
            <a:pPr marL="384048" indent="-384048" defTabSz="914400">
              <a:lnSpc>
                <a:spcPct val="80000"/>
              </a:lnSpc>
              <a:spcBef>
                <a:spcPts val="1000"/>
              </a:spcBef>
              <a:spcAft>
                <a:spcPts val="200"/>
              </a:spcAft>
              <a:buFont typeface="Franklin Gothic Book" panose="020B0503020102020204" pitchFamily="34" charset="0"/>
              <a:buChar char="■"/>
            </a:pPr>
            <a:r>
              <a:rPr lang="pt-BR" sz="1600" dirty="0">
                <a:solidFill>
                  <a:schemeClr val="tx2"/>
                </a:solidFill>
              </a:rPr>
              <a:t>Interface simples e intuitiva para responder questionários.</a:t>
            </a:r>
          </a:p>
          <a:p>
            <a:pPr marL="384048" indent="-384048" defTabSz="914400">
              <a:lnSpc>
                <a:spcPct val="80000"/>
              </a:lnSpc>
              <a:spcBef>
                <a:spcPts val="1000"/>
              </a:spcBef>
              <a:spcAft>
                <a:spcPts val="200"/>
              </a:spcAft>
              <a:buFont typeface="Franklin Gothic Book" panose="020B0503020102020204" pitchFamily="34" charset="0"/>
              <a:buChar char="■"/>
            </a:pPr>
            <a:r>
              <a:rPr lang="pt-BR" sz="1600" dirty="0">
                <a:solidFill>
                  <a:schemeClr val="tx2"/>
                </a:solidFill>
              </a:rPr>
              <a:t>Acesso rápido por meio de senha individual.</a:t>
            </a:r>
          </a:p>
          <a:p>
            <a:pPr marL="384048" indent="-384048" defTabSz="914400">
              <a:lnSpc>
                <a:spcPct val="80000"/>
              </a:lnSpc>
              <a:spcBef>
                <a:spcPts val="1000"/>
              </a:spcBef>
              <a:spcAft>
                <a:spcPts val="200"/>
              </a:spcAft>
              <a:buFont typeface="Franklin Gothic Book" panose="020B0503020102020204" pitchFamily="34" charset="0"/>
              <a:buChar char="■"/>
            </a:pPr>
            <a:r>
              <a:rPr lang="pt-BR" sz="1600" dirty="0">
                <a:solidFill>
                  <a:schemeClr val="tx2"/>
                </a:solidFill>
              </a:rPr>
              <a:t>Maior confiança para fornecer opiniões e avaliações sinceras.</a:t>
            </a:r>
          </a:p>
          <a:p>
            <a:pPr marL="384048" indent="-384048" defTabSz="914400">
              <a:lnSpc>
                <a:spcPct val="80000"/>
              </a:lnSpc>
              <a:spcBef>
                <a:spcPts val="1000"/>
              </a:spcBef>
              <a:spcAft>
                <a:spcPts val="200"/>
              </a:spcAft>
              <a:buFont typeface="Franklin Gothic Book" panose="020B0503020102020204" pitchFamily="34" charset="0"/>
              <a:buChar char="■"/>
            </a:pPr>
            <a:r>
              <a:rPr lang="pt-BR" sz="1600" dirty="0">
                <a:solidFill>
                  <a:schemeClr val="tx2"/>
                </a:solidFill>
              </a:rPr>
              <a:t>Questionários personalizados de acordo com sua categoria (aluno, professor ou colaborador).</a:t>
            </a:r>
          </a:p>
          <a:p>
            <a:pPr marL="384048" indent="-384048" defTabSz="914400">
              <a:lnSpc>
                <a:spcPct val="80000"/>
              </a:lnSpc>
              <a:spcBef>
                <a:spcPts val="1000"/>
              </a:spcBef>
              <a:spcAft>
                <a:spcPts val="200"/>
              </a:spcAft>
              <a:buFont typeface="Franklin Gothic Book" panose="020B0503020102020204" pitchFamily="34" charset="0"/>
              <a:buChar char="■"/>
            </a:pPr>
            <a:r>
              <a:rPr lang="pt-BR" sz="1600" dirty="0">
                <a:solidFill>
                  <a:schemeClr val="tx2"/>
                </a:solidFill>
              </a:rPr>
              <a:t>Possibilidade de contribuir diretamente para melhorias na instituição.</a:t>
            </a:r>
          </a:p>
          <a:p>
            <a:pPr marL="384048" indent="-384048" defTabSz="914400">
              <a:lnSpc>
                <a:spcPct val="80000"/>
              </a:lnSpc>
              <a:spcBef>
                <a:spcPts val="1000"/>
              </a:spcBef>
              <a:spcAft>
                <a:spcPts val="200"/>
              </a:spcAft>
              <a:buFont typeface="Franklin Gothic Book" panose="020B0503020102020204" pitchFamily="34" charset="0"/>
              <a:buChar char="■"/>
            </a:pPr>
            <a:r>
              <a:rPr lang="pt-BR" sz="1600" dirty="0">
                <a:solidFill>
                  <a:schemeClr val="tx2"/>
                </a:solidFill>
              </a:rPr>
              <a:t>Processo de resposta rápido e acessível em diferentes dispositivos.</a:t>
            </a:r>
          </a:p>
          <a:p>
            <a:endParaRPr lang="pt-BR" dirty="0"/>
          </a:p>
        </p:txBody>
      </p:sp>
    </p:spTree>
    <p:extLst>
      <p:ext uri="{BB962C8B-B14F-4D97-AF65-F5344CB8AC3E}">
        <p14:creationId xmlns:p14="http://schemas.microsoft.com/office/powerpoint/2010/main" val="428576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47A77-0461-1B82-6E7E-61B91C88C7A5}"/>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F1BC38E1-DF64-629C-68C7-4030FF0D5F78}"/>
              </a:ext>
            </a:extLst>
          </p:cNvPr>
          <p:cNvSpPr>
            <a:spLocks noGrp="1"/>
          </p:cNvSpPr>
          <p:nvPr>
            <p:ph type="title"/>
          </p:nvPr>
        </p:nvSpPr>
        <p:spPr/>
        <p:txBody>
          <a:bodyPr/>
          <a:lstStyle/>
          <a:p>
            <a:r>
              <a:rPr lang="pt-BR" dirty="0"/>
              <a:t>Viabilidade Técnica (Tecnologias)</a:t>
            </a:r>
          </a:p>
        </p:txBody>
      </p:sp>
      <p:sp>
        <p:nvSpPr>
          <p:cNvPr id="8" name="Espaço Reservado para Conteúdo 7">
            <a:extLst>
              <a:ext uri="{FF2B5EF4-FFF2-40B4-BE49-F238E27FC236}">
                <a16:creationId xmlns:a16="http://schemas.microsoft.com/office/drawing/2014/main" id="{40815DB4-1ED6-362C-134E-8AC55C981D10}"/>
              </a:ext>
            </a:extLst>
          </p:cNvPr>
          <p:cNvSpPr>
            <a:spLocks noGrp="1"/>
          </p:cNvSpPr>
          <p:nvPr>
            <p:ph idx="1"/>
          </p:nvPr>
        </p:nvSpPr>
        <p:spPr/>
        <p:txBody>
          <a:bodyPr numCol="2">
            <a:normAutofit/>
          </a:bodyPr>
          <a:lstStyle/>
          <a:p>
            <a:pPr marL="0" indent="0">
              <a:buNone/>
            </a:pPr>
            <a:r>
              <a:rPr lang="pt-PT" sz="1800" b="1" dirty="0"/>
              <a:t>O sistema deverá permitir:</a:t>
            </a:r>
            <a:endParaRPr lang="pt-BR" sz="1800" b="1" dirty="0"/>
          </a:p>
          <a:p>
            <a:pPr lvl="0"/>
            <a:r>
              <a:rPr lang="pt-PT" sz="1600" dirty="0"/>
              <a:t>Cadastrar pesquisas</a:t>
            </a:r>
            <a:endParaRPr lang="pt-BR" sz="1600" dirty="0"/>
          </a:p>
          <a:p>
            <a:pPr lvl="0"/>
            <a:r>
              <a:rPr lang="pt-PT" sz="1600" dirty="0"/>
              <a:t>Cadastrar categorias de participantes</a:t>
            </a:r>
            <a:endParaRPr lang="pt-BR" sz="1600" dirty="0"/>
          </a:p>
          <a:p>
            <a:pPr lvl="0"/>
            <a:r>
              <a:rPr lang="pt-PT" sz="1600" dirty="0"/>
              <a:t>Criar questionários por categoria</a:t>
            </a:r>
            <a:endParaRPr lang="pt-BR" sz="1600" dirty="0"/>
          </a:p>
          <a:p>
            <a:pPr lvl="0"/>
            <a:r>
              <a:rPr lang="pt-PT" sz="1600" dirty="0"/>
              <a:t>Cadastrar perguntas e alternativas</a:t>
            </a:r>
            <a:endParaRPr lang="pt-BR" sz="1600" dirty="0"/>
          </a:p>
          <a:p>
            <a:pPr lvl="0"/>
            <a:r>
              <a:rPr lang="pt-PT" sz="1600" dirty="0"/>
              <a:t>Gerar senhas anônimas</a:t>
            </a:r>
            <a:endParaRPr lang="pt-BR" sz="1600" dirty="0"/>
          </a:p>
          <a:p>
            <a:pPr lvl="0"/>
            <a:r>
              <a:rPr lang="pt-PT" sz="1600" dirty="0"/>
              <a:t>Aplicar questionários via senha</a:t>
            </a:r>
            <a:endParaRPr lang="pt-BR" sz="1600" dirty="0"/>
          </a:p>
          <a:p>
            <a:pPr lvl="0"/>
            <a:r>
              <a:rPr lang="pt-PT" sz="1600" dirty="0"/>
              <a:t>Registrar respostas no banco de dados</a:t>
            </a:r>
            <a:endParaRPr lang="pt-BR" sz="1600" dirty="0"/>
          </a:p>
          <a:p>
            <a:pPr lvl="0"/>
            <a:r>
              <a:rPr lang="pt-PT" sz="1600" dirty="0"/>
              <a:t>Impedir reutilização de senhas</a:t>
            </a:r>
            <a:endParaRPr lang="pt-BR" sz="1600" dirty="0"/>
          </a:p>
          <a:p>
            <a:pPr lvl="0"/>
            <a:endParaRPr lang="pt-PT" sz="1600" dirty="0"/>
          </a:p>
          <a:p>
            <a:pPr lvl="0"/>
            <a:r>
              <a:rPr lang="pt-PT" sz="1600" dirty="0"/>
              <a:t>Monitorar participação em tempo real</a:t>
            </a:r>
            <a:endParaRPr lang="pt-BR" sz="1600" dirty="0"/>
          </a:p>
          <a:p>
            <a:pPr lvl="0"/>
            <a:r>
              <a:rPr lang="pt-PT" sz="1600" dirty="0"/>
              <a:t>Gerar relatórios estatísticos</a:t>
            </a:r>
            <a:endParaRPr lang="pt-BR" sz="1600" dirty="0"/>
          </a:p>
          <a:p>
            <a:pPr lvl="0"/>
            <a:r>
              <a:rPr lang="pt-PT" sz="1600" dirty="0"/>
              <a:t>Definir limite de respostas por questão</a:t>
            </a:r>
            <a:endParaRPr lang="pt-BR" sz="1600" dirty="0"/>
          </a:p>
          <a:p>
            <a:pPr lvl="0"/>
            <a:r>
              <a:rPr lang="pt-PT" sz="1600" dirty="0"/>
              <a:t>Validação de formato (ex: texto mínimo/máximo)</a:t>
            </a:r>
            <a:endParaRPr lang="pt-BR" sz="1600" dirty="0"/>
          </a:p>
          <a:p>
            <a:pPr lvl="0"/>
            <a:r>
              <a:rPr lang="pt-PT" sz="1600" dirty="0"/>
              <a:t>Possibilidade de pausar/retomar pesquisas</a:t>
            </a:r>
            <a:endParaRPr lang="pt-BR" sz="1600" dirty="0"/>
          </a:p>
          <a:p>
            <a:pPr lvl="0"/>
            <a:r>
              <a:rPr lang="pt-PT" sz="1600" dirty="0"/>
              <a:t>Diferentes níveis de acesso</a:t>
            </a:r>
            <a:endParaRPr lang="pt-BR" sz="1600" dirty="0"/>
          </a:p>
          <a:p>
            <a:pPr lvl="0"/>
            <a:r>
              <a:rPr lang="pt-PT" sz="1600" dirty="0"/>
              <a:t>Login e autenticação de administradores</a:t>
            </a:r>
            <a:endParaRPr lang="pt-BR" sz="1600" dirty="0"/>
          </a:p>
        </p:txBody>
      </p:sp>
    </p:spTree>
    <p:extLst>
      <p:ext uri="{BB962C8B-B14F-4D97-AF65-F5344CB8AC3E}">
        <p14:creationId xmlns:p14="http://schemas.microsoft.com/office/powerpoint/2010/main" val="4024690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5082C-06BC-DBC6-89FB-E380B0ACE4B9}"/>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A09000EB-5C96-B0F7-4664-7E3A0F9A5862}"/>
              </a:ext>
            </a:extLst>
          </p:cNvPr>
          <p:cNvSpPr>
            <a:spLocks noGrp="1"/>
          </p:cNvSpPr>
          <p:nvPr>
            <p:ph type="title"/>
          </p:nvPr>
        </p:nvSpPr>
        <p:spPr/>
        <p:txBody>
          <a:bodyPr/>
          <a:lstStyle/>
          <a:p>
            <a:r>
              <a:rPr lang="pt-BR" dirty="0"/>
              <a:t>MVP – Produto Mínimo Viável</a:t>
            </a:r>
          </a:p>
        </p:txBody>
      </p:sp>
      <p:sp>
        <p:nvSpPr>
          <p:cNvPr id="8" name="Espaço Reservado para Conteúdo 7">
            <a:extLst>
              <a:ext uri="{FF2B5EF4-FFF2-40B4-BE49-F238E27FC236}">
                <a16:creationId xmlns:a16="http://schemas.microsoft.com/office/drawing/2014/main" id="{AD88BEA9-9B62-9D91-0D2E-AB1ED94363C4}"/>
              </a:ext>
            </a:extLst>
          </p:cNvPr>
          <p:cNvSpPr>
            <a:spLocks noGrp="1"/>
          </p:cNvSpPr>
          <p:nvPr>
            <p:ph idx="1"/>
          </p:nvPr>
        </p:nvSpPr>
        <p:spPr>
          <a:xfrm>
            <a:off x="1371600" y="1891394"/>
            <a:ext cx="9601200" cy="3540578"/>
          </a:xfrm>
        </p:spPr>
        <p:txBody>
          <a:bodyPr vert="horz" lIns="91440" tIns="45720" rIns="91440" bIns="45720" rtlCol="0" anchor="t">
            <a:normAutofit/>
          </a:bodyPr>
          <a:lstStyle/>
          <a:p>
            <a:pPr marL="383540" indent="-383540">
              <a:lnSpc>
                <a:spcPct val="110000"/>
              </a:lnSpc>
            </a:pPr>
            <a:r>
              <a:rPr lang="pt-BR" sz="1600">
                <a:latin typeface="Franklin Gothic Book"/>
                <a:cs typeface="Segoe UI"/>
              </a:rPr>
              <a:t>Cadastro de administradores (login seguro)</a:t>
            </a:r>
            <a:endParaRPr lang="pt-BR" sz="1600">
              <a:latin typeface="Franklin Gothic Book"/>
            </a:endParaRPr>
          </a:p>
          <a:p>
            <a:pPr marL="383540" indent="-383540">
              <a:lnSpc>
                <a:spcPct val="110000"/>
              </a:lnSpc>
            </a:pPr>
            <a:r>
              <a:rPr lang="pt-BR" sz="1600">
                <a:latin typeface="Franklin Gothic Book"/>
                <a:cs typeface="Segoe UI"/>
              </a:rPr>
              <a:t>Criação de pesquisas e questionários simples</a:t>
            </a:r>
            <a:endParaRPr lang="pt-BR" sz="1600">
              <a:latin typeface="Franklin Gothic Book"/>
            </a:endParaRPr>
          </a:p>
          <a:p>
            <a:pPr marL="383540" indent="-383540">
              <a:lnSpc>
                <a:spcPct val="110000"/>
              </a:lnSpc>
            </a:pPr>
            <a:r>
              <a:rPr lang="pt-BR" sz="1600">
                <a:latin typeface="Franklin Gothic Book"/>
                <a:cs typeface="Segoe UI"/>
              </a:rPr>
              <a:t>Cadastro de perguntas e alternativas</a:t>
            </a:r>
            <a:endParaRPr lang="pt-BR" sz="1600">
              <a:latin typeface="Franklin Gothic Book"/>
            </a:endParaRPr>
          </a:p>
          <a:p>
            <a:pPr marL="383540" indent="-383540">
              <a:lnSpc>
                <a:spcPct val="110000"/>
              </a:lnSpc>
            </a:pPr>
            <a:r>
              <a:rPr lang="pt-BR" sz="1600">
                <a:latin typeface="Franklin Gothic Book"/>
                <a:cs typeface="Segoe UI"/>
              </a:rPr>
              <a:t>Geração de senhas anônimas para participantes</a:t>
            </a:r>
            <a:endParaRPr lang="pt-BR" sz="1600">
              <a:latin typeface="Franklin Gothic Book"/>
            </a:endParaRPr>
          </a:p>
          <a:p>
            <a:pPr marL="383540" indent="-383540">
              <a:lnSpc>
                <a:spcPct val="110000"/>
              </a:lnSpc>
            </a:pPr>
            <a:r>
              <a:rPr lang="pt-BR" sz="1600">
                <a:latin typeface="Franklin Gothic Book"/>
                <a:cs typeface="Segoe UI"/>
              </a:rPr>
              <a:t>Resposta de questionários via senha</a:t>
            </a:r>
            <a:endParaRPr lang="pt-BR" sz="1600">
              <a:latin typeface="Franklin Gothic Book"/>
            </a:endParaRPr>
          </a:p>
          <a:p>
            <a:pPr marL="383540" indent="-383540">
              <a:lnSpc>
                <a:spcPct val="110000"/>
              </a:lnSpc>
            </a:pPr>
            <a:r>
              <a:rPr lang="pt-BR" sz="1600">
                <a:latin typeface="Franklin Gothic Book"/>
                <a:cs typeface="Segoe UI"/>
              </a:rPr>
              <a:t>Armazenamento das respostas no banco de dados</a:t>
            </a:r>
            <a:endParaRPr lang="pt-BR" sz="1600">
              <a:latin typeface="Franklin Gothic Book"/>
            </a:endParaRPr>
          </a:p>
          <a:p>
            <a:pPr marL="383540" indent="-383540">
              <a:lnSpc>
                <a:spcPct val="110000"/>
              </a:lnSpc>
            </a:pPr>
            <a:r>
              <a:rPr lang="pt-BR" sz="1600">
                <a:latin typeface="Franklin Gothic Book"/>
                <a:cs typeface="Segoe UI"/>
              </a:rPr>
              <a:t>Visualização básica dos resultados (tabelas e gráficos simples)</a:t>
            </a:r>
            <a:endParaRPr lang="pt-BR" sz="1600">
              <a:latin typeface="Franklin Gothic Book"/>
            </a:endParaRPr>
          </a:p>
          <a:p>
            <a:pPr marL="383540" indent="-383540">
              <a:lnSpc>
                <a:spcPct val="110000"/>
              </a:lnSpc>
            </a:pPr>
            <a:r>
              <a:rPr lang="pt-BR" sz="1600">
                <a:latin typeface="Franklin Gothic Book"/>
                <a:cs typeface="Segoe UI"/>
              </a:rPr>
              <a:t>Controle de uso único das senhas</a:t>
            </a:r>
            <a:endParaRPr lang="pt-BR" sz="1600">
              <a:latin typeface="Franklin Gothic Book"/>
            </a:endParaRPr>
          </a:p>
          <a:p>
            <a:pPr marL="383540" indent="-383540">
              <a:lnSpc>
                <a:spcPct val="110000"/>
              </a:lnSpc>
            </a:pPr>
            <a:endParaRPr lang="pt-BR" sz="1600" dirty="0">
              <a:latin typeface="Segoe UI"/>
              <a:cs typeface="Segoe UI"/>
            </a:endParaRPr>
          </a:p>
          <a:p>
            <a:pPr marL="383540" indent="-383540">
              <a:lnSpc>
                <a:spcPct val="110000"/>
              </a:lnSpc>
            </a:pPr>
            <a:endParaRPr lang="pt-BR" sz="1600" dirty="0">
              <a:latin typeface="Segoe UI"/>
              <a:cs typeface="Segoe UI"/>
            </a:endParaRPr>
          </a:p>
          <a:p>
            <a:pPr marL="383540" indent="-383540">
              <a:lnSpc>
                <a:spcPct val="110000"/>
              </a:lnSpc>
            </a:pPr>
            <a:endParaRPr lang="pt-BR" sz="1600" dirty="0"/>
          </a:p>
        </p:txBody>
      </p:sp>
      <p:sp>
        <p:nvSpPr>
          <p:cNvPr id="3" name="CaixaDeTexto 2">
            <a:extLst>
              <a:ext uri="{FF2B5EF4-FFF2-40B4-BE49-F238E27FC236}">
                <a16:creationId xmlns:a16="http://schemas.microsoft.com/office/drawing/2014/main" id="{D2A1B204-A797-E651-E3DF-3E9CA74DB4A9}"/>
              </a:ext>
            </a:extLst>
          </p:cNvPr>
          <p:cNvSpPr txBox="1"/>
          <p:nvPr/>
        </p:nvSpPr>
        <p:spPr>
          <a:xfrm>
            <a:off x="1374321" y="5715000"/>
            <a:ext cx="981074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dirty="0" err="1">
                <a:latin typeface="Franklin Gothic Book"/>
                <a:ea typeface="Segoe UI"/>
                <a:cs typeface="Segoe UI"/>
              </a:rPr>
              <a:t>Objetivo</a:t>
            </a:r>
            <a:r>
              <a:rPr lang="en-US" b="0" i="0" dirty="0">
                <a:latin typeface="Franklin Gothic Book"/>
                <a:ea typeface="Segoe UI"/>
                <a:cs typeface="Segoe UI"/>
              </a:rPr>
              <a:t> do MVP: </a:t>
            </a:r>
            <a:r>
              <a:rPr lang="en-US" b="0" i="0" dirty="0" err="1">
                <a:latin typeface="Franklin Gothic Book"/>
                <a:ea typeface="Segoe UI"/>
                <a:cs typeface="Segoe UI"/>
              </a:rPr>
              <a:t>entregar</a:t>
            </a:r>
            <a:r>
              <a:rPr lang="en-US" b="0" i="0" dirty="0">
                <a:latin typeface="Franklin Gothic Book"/>
                <a:ea typeface="Segoe UI"/>
                <a:cs typeface="Segoe UI"/>
              </a:rPr>
              <a:t> </a:t>
            </a:r>
            <a:r>
              <a:rPr lang="en-US" b="0" i="0" dirty="0" err="1">
                <a:latin typeface="Franklin Gothic Book"/>
                <a:ea typeface="Segoe UI"/>
                <a:cs typeface="Segoe UI"/>
              </a:rPr>
              <a:t>uma</a:t>
            </a:r>
            <a:r>
              <a:rPr lang="en-US" b="0" i="0" dirty="0">
                <a:latin typeface="Franklin Gothic Book"/>
                <a:ea typeface="Segoe UI"/>
                <a:cs typeface="Segoe UI"/>
              </a:rPr>
              <a:t> </a:t>
            </a:r>
            <a:r>
              <a:rPr lang="en-US" b="0" i="0" dirty="0" err="1">
                <a:latin typeface="Franklin Gothic Book"/>
                <a:ea typeface="Segoe UI"/>
                <a:cs typeface="Segoe UI"/>
              </a:rPr>
              <a:t>versão</a:t>
            </a:r>
            <a:r>
              <a:rPr lang="en-US" b="0" i="0" dirty="0">
                <a:latin typeface="Franklin Gothic Book"/>
                <a:ea typeface="Segoe UI"/>
                <a:cs typeface="Segoe UI"/>
              </a:rPr>
              <a:t> </a:t>
            </a:r>
            <a:r>
              <a:rPr lang="en-US" b="0" i="0" dirty="0" err="1">
                <a:latin typeface="Franklin Gothic Book"/>
                <a:ea typeface="Segoe UI"/>
                <a:cs typeface="Segoe UI"/>
              </a:rPr>
              <a:t>funcional</a:t>
            </a:r>
            <a:r>
              <a:rPr lang="en-US" b="0" i="0" dirty="0">
                <a:latin typeface="Franklin Gothic Book"/>
                <a:ea typeface="Segoe UI"/>
                <a:cs typeface="Segoe UI"/>
              </a:rPr>
              <a:t> do </a:t>
            </a:r>
            <a:r>
              <a:rPr lang="en-US" b="0" i="0" dirty="0" err="1">
                <a:latin typeface="Franklin Gothic Book"/>
                <a:ea typeface="Segoe UI"/>
                <a:cs typeface="Segoe UI"/>
              </a:rPr>
              <a:t>sistema</a:t>
            </a:r>
            <a:r>
              <a:rPr lang="en-US" b="0" i="0" dirty="0">
                <a:latin typeface="Franklin Gothic Book"/>
                <a:ea typeface="Segoe UI"/>
                <a:cs typeface="Segoe UI"/>
              </a:rPr>
              <a:t> com </a:t>
            </a:r>
            <a:r>
              <a:rPr lang="en-US" b="0" i="0" dirty="0" err="1">
                <a:latin typeface="Franklin Gothic Book"/>
                <a:ea typeface="Segoe UI"/>
                <a:cs typeface="Segoe UI"/>
              </a:rPr>
              <a:t>os</a:t>
            </a:r>
            <a:r>
              <a:rPr lang="en-US" b="0" i="0" dirty="0">
                <a:latin typeface="Franklin Gothic Book"/>
                <a:ea typeface="Segoe UI"/>
                <a:cs typeface="Segoe UI"/>
              </a:rPr>
              <a:t> </a:t>
            </a:r>
            <a:r>
              <a:rPr lang="en-US" b="0" i="0" dirty="0" err="1">
                <a:latin typeface="Franklin Gothic Book"/>
                <a:ea typeface="Segoe UI"/>
                <a:cs typeface="Segoe UI"/>
              </a:rPr>
              <a:t>recursos</a:t>
            </a:r>
            <a:r>
              <a:rPr lang="en-US" b="0" i="0" dirty="0">
                <a:latin typeface="Franklin Gothic Book"/>
                <a:ea typeface="Segoe UI"/>
                <a:cs typeface="Segoe UI"/>
              </a:rPr>
              <a:t> </a:t>
            </a:r>
            <a:r>
              <a:rPr lang="en-US" b="0" i="0" dirty="0" err="1">
                <a:latin typeface="Franklin Gothic Book"/>
                <a:ea typeface="Segoe UI"/>
                <a:cs typeface="Segoe UI"/>
              </a:rPr>
              <a:t>essenciais</a:t>
            </a:r>
            <a:r>
              <a:rPr lang="en-US" b="0" i="0" dirty="0">
                <a:latin typeface="Franklin Gothic Book"/>
                <a:ea typeface="Segoe UI"/>
                <a:cs typeface="Segoe UI"/>
              </a:rPr>
              <a:t> para </a:t>
            </a:r>
            <a:r>
              <a:rPr lang="en-US" b="0" i="0" dirty="0" err="1">
                <a:latin typeface="Franklin Gothic Book"/>
                <a:ea typeface="Segoe UI"/>
                <a:cs typeface="Segoe UI"/>
              </a:rPr>
              <a:t>validação</a:t>
            </a:r>
            <a:r>
              <a:rPr lang="en-US" b="0" i="0" dirty="0">
                <a:latin typeface="Franklin Gothic Book"/>
                <a:ea typeface="Segoe UI"/>
                <a:cs typeface="Segoe UI"/>
              </a:rPr>
              <a:t> da </a:t>
            </a:r>
            <a:r>
              <a:rPr lang="en-US" b="0" i="0" dirty="0" err="1">
                <a:latin typeface="Franklin Gothic Book"/>
                <a:ea typeface="Segoe UI"/>
                <a:cs typeface="Segoe UI"/>
              </a:rPr>
              <a:t>solução</a:t>
            </a:r>
            <a:r>
              <a:rPr lang="en-US" b="0" i="0" dirty="0">
                <a:latin typeface="Franklin Gothic Book"/>
                <a:ea typeface="Segoe UI"/>
                <a:cs typeface="Segoe UI"/>
              </a:rPr>
              <a:t>.</a:t>
            </a:r>
          </a:p>
        </p:txBody>
      </p:sp>
    </p:spTree>
    <p:extLst>
      <p:ext uri="{BB962C8B-B14F-4D97-AF65-F5344CB8AC3E}">
        <p14:creationId xmlns:p14="http://schemas.microsoft.com/office/powerpoint/2010/main" val="520338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089F1-7707-CD99-7D12-9BBFFDA62A6A}"/>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01EA0571-CD32-834E-B65B-6854D2DCAF2B}"/>
              </a:ext>
            </a:extLst>
          </p:cNvPr>
          <p:cNvSpPr>
            <a:spLocks noGrp="1"/>
          </p:cNvSpPr>
          <p:nvPr>
            <p:ph type="title"/>
          </p:nvPr>
        </p:nvSpPr>
        <p:spPr/>
        <p:txBody>
          <a:bodyPr/>
          <a:lstStyle/>
          <a:p>
            <a:r>
              <a:rPr lang="pt-BR" dirty="0"/>
              <a:t>Evolução Futura</a:t>
            </a:r>
          </a:p>
        </p:txBody>
      </p:sp>
      <p:sp>
        <p:nvSpPr>
          <p:cNvPr id="8" name="Espaço Reservado para Conteúdo 7">
            <a:extLst>
              <a:ext uri="{FF2B5EF4-FFF2-40B4-BE49-F238E27FC236}">
                <a16:creationId xmlns:a16="http://schemas.microsoft.com/office/drawing/2014/main" id="{B65EEFF9-9CB4-E91E-0232-18AAF0B70709}"/>
              </a:ext>
            </a:extLst>
          </p:cNvPr>
          <p:cNvSpPr>
            <a:spLocks noGrp="1"/>
          </p:cNvSpPr>
          <p:nvPr>
            <p:ph idx="1"/>
          </p:nvPr>
        </p:nvSpPr>
        <p:spPr/>
        <p:txBody>
          <a:bodyPr vert="horz" lIns="91440" tIns="45720" rIns="91440" bIns="45720" rtlCol="0" anchor="t">
            <a:normAutofit/>
          </a:bodyPr>
          <a:lstStyle/>
          <a:p>
            <a:pPr marL="0" indent="0">
              <a:buNone/>
            </a:pPr>
            <a:r>
              <a:rPr lang="pt-BR" sz="1600">
                <a:latin typeface="Franklin Gothic Book"/>
                <a:cs typeface="Segoe UI"/>
              </a:rPr>
              <a:t>Após a validação do MVP, o sistema poderá evoluir com novas funcionalidades, sendo elas:</a:t>
            </a:r>
            <a:endParaRPr lang="pt-BR" sz="1600">
              <a:latin typeface="Franklin Gothic Book"/>
              <a:ea typeface="Calibri"/>
              <a:cs typeface="Calibri"/>
            </a:endParaRPr>
          </a:p>
        </p:txBody>
      </p:sp>
      <p:sp>
        <p:nvSpPr>
          <p:cNvPr id="4" name="Espaço Reservado para Conteúdo 7">
            <a:extLst>
              <a:ext uri="{FF2B5EF4-FFF2-40B4-BE49-F238E27FC236}">
                <a16:creationId xmlns:a16="http://schemas.microsoft.com/office/drawing/2014/main" id="{A88FFF6D-B5F8-2275-840C-82125E563D3B}"/>
              </a:ext>
            </a:extLst>
          </p:cNvPr>
          <p:cNvSpPr txBox="1">
            <a:spLocks/>
          </p:cNvSpPr>
          <p:nvPr/>
        </p:nvSpPr>
        <p:spPr>
          <a:xfrm>
            <a:off x="1371600" y="3061608"/>
            <a:ext cx="9601200" cy="3009900"/>
          </a:xfrm>
          <a:prstGeom prst="rect">
            <a:avLst/>
          </a:prstGeom>
        </p:spPr>
        <p:txBody>
          <a:bodyPr vert="horz" lIns="91440" tIns="45720" rIns="91440" bIns="45720" rtlCol="0" anchor="t">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383540" indent="-383540">
              <a:lnSpc>
                <a:spcPct val="150000"/>
              </a:lnSpc>
              <a:spcBef>
                <a:spcPts val="0"/>
              </a:spcBef>
              <a:spcAft>
                <a:spcPts val="0"/>
              </a:spcAft>
              <a:buFont typeface="Wingdings"/>
              <a:buChar char="§"/>
            </a:pPr>
            <a:r>
              <a:rPr lang="en-US" sz="1600" dirty="0">
                <a:solidFill>
                  <a:srgbClr val="000000"/>
                </a:solidFill>
                <a:latin typeface="Franklin Gothic Book"/>
                <a:cs typeface="Segoe UI"/>
              </a:rPr>
              <a:t>Dashboard </a:t>
            </a:r>
            <a:r>
              <a:rPr lang="en-US" sz="1600" dirty="0" err="1">
                <a:solidFill>
                  <a:srgbClr val="000000"/>
                </a:solidFill>
                <a:latin typeface="Franklin Gothic Book"/>
                <a:cs typeface="Segoe UI"/>
              </a:rPr>
              <a:t>avançado</a:t>
            </a:r>
            <a:r>
              <a:rPr lang="en-US" sz="1600" dirty="0">
                <a:solidFill>
                  <a:srgbClr val="000000"/>
                </a:solidFill>
                <a:latin typeface="Franklin Gothic Book"/>
                <a:cs typeface="Segoe UI"/>
              </a:rPr>
              <a:t> com </a:t>
            </a:r>
            <a:r>
              <a:rPr lang="en-US" sz="1600" dirty="0" err="1">
                <a:solidFill>
                  <a:srgbClr val="000000"/>
                </a:solidFill>
                <a:latin typeface="Franklin Gothic Book"/>
                <a:cs typeface="Segoe UI"/>
              </a:rPr>
              <a:t>métricas</a:t>
            </a:r>
            <a:r>
              <a:rPr lang="en-US" sz="1600" dirty="0">
                <a:solidFill>
                  <a:srgbClr val="000000"/>
                </a:solidFill>
                <a:latin typeface="Franklin Gothic Book"/>
                <a:cs typeface="Segoe UI"/>
              </a:rPr>
              <a:t> </a:t>
            </a:r>
            <a:r>
              <a:rPr lang="en-US" sz="1600" dirty="0" err="1">
                <a:solidFill>
                  <a:srgbClr val="000000"/>
                </a:solidFill>
                <a:latin typeface="Franklin Gothic Book"/>
                <a:cs typeface="Segoe UI"/>
              </a:rPr>
              <a:t>detalhadas</a:t>
            </a:r>
            <a:endParaRPr lang="pt-BR" sz="1600">
              <a:latin typeface="Franklin Gothic Book"/>
              <a:cs typeface="Segoe UI"/>
            </a:endParaRPr>
          </a:p>
          <a:p>
            <a:pPr marL="383540" indent="-383540">
              <a:lnSpc>
                <a:spcPct val="150000"/>
              </a:lnSpc>
              <a:spcBef>
                <a:spcPts val="0"/>
              </a:spcBef>
              <a:spcAft>
                <a:spcPts val="0"/>
              </a:spcAft>
              <a:buFont typeface="Wingdings"/>
              <a:buChar char="§"/>
            </a:pPr>
            <a:r>
              <a:rPr lang="en-US" sz="1600" dirty="0" err="1">
                <a:solidFill>
                  <a:srgbClr val="000000"/>
                </a:solidFill>
                <a:latin typeface="Franklin Gothic Book"/>
                <a:cs typeface="Segoe UI"/>
              </a:rPr>
              <a:t>Exportação</a:t>
            </a:r>
            <a:r>
              <a:rPr lang="en-US" sz="1600" dirty="0">
                <a:solidFill>
                  <a:srgbClr val="000000"/>
                </a:solidFill>
                <a:latin typeface="Franklin Gothic Book"/>
                <a:cs typeface="Segoe UI"/>
              </a:rPr>
              <a:t> de </a:t>
            </a:r>
            <a:r>
              <a:rPr lang="en-US" sz="1600" dirty="0" err="1">
                <a:solidFill>
                  <a:srgbClr val="000000"/>
                </a:solidFill>
                <a:latin typeface="Franklin Gothic Book"/>
                <a:cs typeface="Segoe UI"/>
              </a:rPr>
              <a:t>relatórios</a:t>
            </a:r>
            <a:r>
              <a:rPr lang="en-US" sz="1600" dirty="0">
                <a:solidFill>
                  <a:srgbClr val="000000"/>
                </a:solidFill>
                <a:latin typeface="Franklin Gothic Book"/>
                <a:cs typeface="Segoe UI"/>
              </a:rPr>
              <a:t> (PDF, Excel)</a:t>
            </a:r>
          </a:p>
          <a:p>
            <a:pPr marL="383540" indent="-383540">
              <a:lnSpc>
                <a:spcPct val="150000"/>
              </a:lnSpc>
              <a:spcBef>
                <a:spcPts val="0"/>
              </a:spcBef>
              <a:spcAft>
                <a:spcPts val="0"/>
              </a:spcAft>
              <a:buFont typeface="Wingdings"/>
              <a:buChar char="§"/>
            </a:pPr>
            <a:r>
              <a:rPr lang="en-US" sz="1600" dirty="0" err="1">
                <a:solidFill>
                  <a:srgbClr val="000000"/>
                </a:solidFill>
                <a:latin typeface="Franklin Gothic Book"/>
                <a:cs typeface="Segoe UI"/>
              </a:rPr>
              <a:t>Integração</a:t>
            </a:r>
            <a:r>
              <a:rPr lang="en-US" sz="1600" dirty="0">
                <a:solidFill>
                  <a:srgbClr val="000000"/>
                </a:solidFill>
                <a:latin typeface="Franklin Gothic Book"/>
                <a:cs typeface="Segoe UI"/>
              </a:rPr>
              <a:t> com </a:t>
            </a:r>
            <a:r>
              <a:rPr lang="en-US" sz="1600" dirty="0" err="1">
                <a:solidFill>
                  <a:srgbClr val="000000"/>
                </a:solidFill>
                <a:latin typeface="Franklin Gothic Book"/>
                <a:cs typeface="Segoe UI"/>
              </a:rPr>
              <a:t>outras</a:t>
            </a:r>
            <a:r>
              <a:rPr lang="en-US" sz="1600" dirty="0">
                <a:solidFill>
                  <a:srgbClr val="000000"/>
                </a:solidFill>
                <a:latin typeface="Franklin Gothic Book"/>
                <a:cs typeface="Segoe UI"/>
              </a:rPr>
              <a:t> </a:t>
            </a:r>
            <a:r>
              <a:rPr lang="en-US" sz="1600" dirty="0" err="1">
                <a:solidFill>
                  <a:srgbClr val="000000"/>
                </a:solidFill>
                <a:latin typeface="Franklin Gothic Book"/>
                <a:cs typeface="Segoe UI"/>
              </a:rPr>
              <a:t>plataformas</a:t>
            </a:r>
            <a:r>
              <a:rPr lang="en-US" sz="1600" dirty="0">
                <a:solidFill>
                  <a:srgbClr val="000000"/>
                </a:solidFill>
                <a:latin typeface="Franklin Gothic Book"/>
                <a:cs typeface="Segoe UI"/>
              </a:rPr>
              <a:t> </a:t>
            </a:r>
            <a:r>
              <a:rPr lang="en-US" sz="1600" dirty="0" err="1">
                <a:solidFill>
                  <a:srgbClr val="000000"/>
                </a:solidFill>
                <a:latin typeface="Franklin Gothic Book"/>
                <a:cs typeface="Segoe UI"/>
              </a:rPr>
              <a:t>educacionais</a:t>
            </a:r>
            <a:endParaRPr lang="en-US" sz="1600" dirty="0">
              <a:solidFill>
                <a:srgbClr val="000000"/>
              </a:solidFill>
              <a:latin typeface="Franklin Gothic Book"/>
              <a:cs typeface="Segoe UI"/>
            </a:endParaRPr>
          </a:p>
          <a:p>
            <a:pPr marL="383540" indent="-383540">
              <a:lnSpc>
                <a:spcPct val="150000"/>
              </a:lnSpc>
              <a:spcBef>
                <a:spcPts val="0"/>
              </a:spcBef>
              <a:spcAft>
                <a:spcPts val="0"/>
              </a:spcAft>
              <a:buFont typeface="Wingdings"/>
              <a:buChar char="§"/>
            </a:pPr>
            <a:r>
              <a:rPr lang="en-US" sz="1600" dirty="0" err="1">
                <a:solidFill>
                  <a:srgbClr val="000000"/>
                </a:solidFill>
                <a:latin typeface="Franklin Gothic Book"/>
                <a:cs typeface="Segoe UI"/>
              </a:rPr>
              <a:t>Personalização</a:t>
            </a:r>
            <a:r>
              <a:rPr lang="en-US" sz="1600" dirty="0">
                <a:solidFill>
                  <a:srgbClr val="000000"/>
                </a:solidFill>
                <a:latin typeface="Franklin Gothic Book"/>
                <a:cs typeface="Segoe UI"/>
              </a:rPr>
              <a:t> visual (</a:t>
            </a:r>
            <a:r>
              <a:rPr lang="en-US" sz="1600" dirty="0" err="1">
                <a:solidFill>
                  <a:srgbClr val="000000"/>
                </a:solidFill>
                <a:latin typeface="Franklin Gothic Book"/>
                <a:cs typeface="Segoe UI"/>
              </a:rPr>
              <a:t>temas</a:t>
            </a:r>
            <a:r>
              <a:rPr lang="en-US" sz="1600" dirty="0">
                <a:solidFill>
                  <a:srgbClr val="000000"/>
                </a:solidFill>
                <a:latin typeface="Franklin Gothic Book"/>
                <a:cs typeface="Segoe UI"/>
              </a:rPr>
              <a:t> da </a:t>
            </a:r>
            <a:r>
              <a:rPr lang="en-US" sz="1600" dirty="0" err="1">
                <a:solidFill>
                  <a:srgbClr val="000000"/>
                </a:solidFill>
                <a:latin typeface="Franklin Gothic Book"/>
                <a:cs typeface="Segoe UI"/>
              </a:rPr>
              <a:t>instituição</a:t>
            </a:r>
            <a:r>
              <a:rPr lang="en-US" sz="1600" dirty="0">
                <a:solidFill>
                  <a:srgbClr val="000000"/>
                </a:solidFill>
                <a:latin typeface="Franklin Gothic Book"/>
                <a:cs typeface="Segoe UI"/>
              </a:rPr>
              <a:t>)</a:t>
            </a:r>
          </a:p>
          <a:p>
            <a:pPr marL="383540" indent="-383540">
              <a:lnSpc>
                <a:spcPct val="150000"/>
              </a:lnSpc>
              <a:spcBef>
                <a:spcPts val="0"/>
              </a:spcBef>
              <a:spcAft>
                <a:spcPts val="0"/>
              </a:spcAft>
              <a:buFont typeface="Wingdings"/>
              <a:buChar char="§"/>
            </a:pPr>
            <a:r>
              <a:rPr lang="en-US" sz="1600" dirty="0">
                <a:solidFill>
                  <a:srgbClr val="000000"/>
                </a:solidFill>
                <a:latin typeface="Franklin Gothic Book"/>
                <a:cs typeface="Segoe UI"/>
              </a:rPr>
              <a:t>Sistema de </a:t>
            </a:r>
            <a:r>
              <a:rPr lang="en-US" sz="1600" dirty="0" err="1">
                <a:solidFill>
                  <a:srgbClr val="000000"/>
                </a:solidFill>
                <a:latin typeface="Franklin Gothic Book"/>
                <a:cs typeface="Segoe UI"/>
              </a:rPr>
              <a:t>notificações</a:t>
            </a:r>
            <a:r>
              <a:rPr lang="en-US" sz="1600" dirty="0">
                <a:solidFill>
                  <a:srgbClr val="000000"/>
                </a:solidFill>
                <a:latin typeface="Franklin Gothic Book"/>
                <a:cs typeface="Segoe UI"/>
              </a:rPr>
              <a:t> e </a:t>
            </a:r>
            <a:r>
              <a:rPr lang="en-US" sz="1600" dirty="0" err="1">
                <a:solidFill>
                  <a:srgbClr val="000000"/>
                </a:solidFill>
                <a:latin typeface="Franklin Gothic Book"/>
                <a:cs typeface="Segoe UI"/>
              </a:rPr>
              <a:t>lembretes</a:t>
            </a:r>
            <a:endParaRPr lang="en-US" sz="1600" dirty="0">
              <a:solidFill>
                <a:srgbClr val="000000"/>
              </a:solidFill>
              <a:latin typeface="Franklin Gothic Book"/>
              <a:cs typeface="Segoe UI"/>
            </a:endParaRPr>
          </a:p>
          <a:p>
            <a:pPr marL="383540" indent="-383540">
              <a:lnSpc>
                <a:spcPct val="150000"/>
              </a:lnSpc>
              <a:spcBef>
                <a:spcPts val="0"/>
              </a:spcBef>
              <a:spcAft>
                <a:spcPts val="0"/>
              </a:spcAft>
              <a:buFont typeface="Wingdings"/>
              <a:buChar char="§"/>
            </a:pPr>
            <a:r>
              <a:rPr lang="en-US" sz="1600" dirty="0" err="1">
                <a:solidFill>
                  <a:srgbClr val="000000"/>
                </a:solidFill>
                <a:latin typeface="Franklin Gothic Book"/>
                <a:cs typeface="Segoe UI"/>
              </a:rPr>
              <a:t>Análise</a:t>
            </a:r>
            <a:r>
              <a:rPr lang="en-US" sz="1600" dirty="0">
                <a:solidFill>
                  <a:srgbClr val="000000"/>
                </a:solidFill>
                <a:latin typeface="Franklin Gothic Book"/>
                <a:cs typeface="Segoe UI"/>
              </a:rPr>
              <a:t> </a:t>
            </a:r>
            <a:r>
              <a:rPr lang="en-US" sz="1600" dirty="0" err="1">
                <a:solidFill>
                  <a:srgbClr val="000000"/>
                </a:solidFill>
                <a:latin typeface="Franklin Gothic Book"/>
                <a:cs typeface="Segoe UI"/>
              </a:rPr>
              <a:t>inteligente</a:t>
            </a:r>
            <a:r>
              <a:rPr lang="en-US" sz="1600" dirty="0">
                <a:solidFill>
                  <a:srgbClr val="000000"/>
                </a:solidFill>
                <a:latin typeface="Franklin Gothic Book"/>
                <a:cs typeface="Segoe UI"/>
              </a:rPr>
              <a:t> de dados (insights </a:t>
            </a:r>
            <a:r>
              <a:rPr lang="en-US" sz="1600" dirty="0" err="1">
                <a:solidFill>
                  <a:srgbClr val="000000"/>
                </a:solidFill>
                <a:latin typeface="Franklin Gothic Book"/>
                <a:cs typeface="Segoe UI"/>
              </a:rPr>
              <a:t>automáticos</a:t>
            </a:r>
            <a:r>
              <a:rPr lang="en-US" sz="1600" dirty="0">
                <a:solidFill>
                  <a:srgbClr val="000000"/>
                </a:solidFill>
                <a:latin typeface="Franklin Gothic Book"/>
                <a:cs typeface="Segoe UI"/>
              </a:rPr>
              <a:t>)</a:t>
            </a:r>
          </a:p>
          <a:p>
            <a:pPr marL="383540" indent="-383540">
              <a:lnSpc>
                <a:spcPct val="150000"/>
              </a:lnSpc>
              <a:spcBef>
                <a:spcPts val="0"/>
              </a:spcBef>
              <a:spcAft>
                <a:spcPts val="0"/>
              </a:spcAft>
              <a:buFont typeface="Wingdings"/>
              <a:buChar char="§"/>
            </a:pPr>
            <a:r>
              <a:rPr lang="en-US" sz="1600" dirty="0" err="1">
                <a:solidFill>
                  <a:srgbClr val="000000"/>
                </a:solidFill>
                <a:latin typeface="Franklin Gothic Book"/>
                <a:cs typeface="Segoe UI"/>
              </a:rPr>
              <a:t>Aplicativo</a:t>
            </a:r>
            <a:r>
              <a:rPr lang="en-US" sz="1600" dirty="0">
                <a:solidFill>
                  <a:srgbClr val="000000"/>
                </a:solidFill>
                <a:latin typeface="Franklin Gothic Book"/>
                <a:cs typeface="Segoe UI"/>
              </a:rPr>
              <a:t> mobile (Android/iOS)</a:t>
            </a:r>
          </a:p>
          <a:p>
            <a:pPr marL="383540" indent="-383540">
              <a:lnSpc>
                <a:spcPct val="150000"/>
              </a:lnSpc>
              <a:spcBef>
                <a:spcPts val="0"/>
              </a:spcBef>
              <a:spcAft>
                <a:spcPts val="0"/>
              </a:spcAft>
              <a:buFont typeface="Wingdings"/>
              <a:buChar char="§"/>
            </a:pPr>
            <a:r>
              <a:rPr lang="en-US" sz="1600" dirty="0" err="1">
                <a:solidFill>
                  <a:srgbClr val="000000"/>
                </a:solidFill>
                <a:latin typeface="Franklin Gothic Book"/>
                <a:cs typeface="Segoe UI"/>
              </a:rPr>
              <a:t>Suporte</a:t>
            </a:r>
            <a:r>
              <a:rPr lang="en-US" sz="1600" dirty="0">
                <a:solidFill>
                  <a:srgbClr val="000000"/>
                </a:solidFill>
                <a:latin typeface="Franklin Gothic Book"/>
                <a:cs typeface="Segoe UI"/>
              </a:rPr>
              <a:t> a </a:t>
            </a:r>
            <a:r>
              <a:rPr lang="en-US" sz="1600" dirty="0" err="1">
                <a:solidFill>
                  <a:srgbClr val="000000"/>
                </a:solidFill>
                <a:latin typeface="Franklin Gothic Book"/>
                <a:cs typeface="Segoe UI"/>
              </a:rPr>
              <a:t>múltiplos</a:t>
            </a:r>
            <a:r>
              <a:rPr lang="en-US" sz="1600" dirty="0">
                <a:solidFill>
                  <a:srgbClr val="000000"/>
                </a:solidFill>
                <a:latin typeface="Franklin Gothic Book"/>
                <a:cs typeface="Segoe UI"/>
              </a:rPr>
              <a:t> </a:t>
            </a:r>
            <a:r>
              <a:rPr lang="en-US" sz="1600" dirty="0" err="1">
                <a:solidFill>
                  <a:srgbClr val="000000"/>
                </a:solidFill>
                <a:latin typeface="Franklin Gothic Book"/>
                <a:cs typeface="Segoe UI"/>
              </a:rPr>
              <a:t>idiomas</a:t>
            </a:r>
          </a:p>
          <a:p>
            <a:pPr marL="383540" indent="-383540">
              <a:lnSpc>
                <a:spcPct val="150000"/>
              </a:lnSpc>
              <a:buFont typeface="Wingdings"/>
              <a:buChar char="§"/>
            </a:pPr>
            <a:endParaRPr lang="pt-BR" sz="1600" dirty="0">
              <a:solidFill>
                <a:srgbClr val="191B0E"/>
              </a:solidFill>
              <a:latin typeface="Franklin Gothic Book"/>
              <a:cs typeface="Segoe UI"/>
            </a:endParaRPr>
          </a:p>
        </p:txBody>
      </p:sp>
    </p:spTree>
    <p:extLst>
      <p:ext uri="{BB962C8B-B14F-4D97-AF65-F5344CB8AC3E}">
        <p14:creationId xmlns:p14="http://schemas.microsoft.com/office/powerpoint/2010/main" val="3083439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73CF5-8EF3-6B84-CB33-F266A208CD63}"/>
            </a:ext>
          </a:extLst>
        </p:cNvPr>
        <p:cNvGrpSpPr/>
        <p:nvPr/>
      </p:nvGrpSpPr>
      <p:grpSpPr>
        <a:xfrm>
          <a:off x="0" y="0"/>
          <a:ext cx="0" cy="0"/>
          <a:chOff x="0" y="0"/>
          <a:chExt cx="0" cy="0"/>
        </a:xfrm>
      </p:grpSpPr>
      <p:sp>
        <p:nvSpPr>
          <p:cNvPr id="7" name="Título 6">
            <a:extLst>
              <a:ext uri="{FF2B5EF4-FFF2-40B4-BE49-F238E27FC236}">
                <a16:creationId xmlns:a16="http://schemas.microsoft.com/office/drawing/2014/main" id="{491C6857-CDDF-F936-A9AA-4D47833197B5}"/>
              </a:ext>
            </a:extLst>
          </p:cNvPr>
          <p:cNvSpPr>
            <a:spLocks noGrp="1"/>
          </p:cNvSpPr>
          <p:nvPr>
            <p:ph type="title"/>
          </p:nvPr>
        </p:nvSpPr>
        <p:spPr/>
        <p:txBody>
          <a:bodyPr/>
          <a:lstStyle/>
          <a:p>
            <a:r>
              <a:rPr lang="pt-BR" dirty="0"/>
              <a:t>Conclusão</a:t>
            </a:r>
          </a:p>
        </p:txBody>
      </p:sp>
      <p:sp>
        <p:nvSpPr>
          <p:cNvPr id="8" name="Espaço Reservado para Conteúdo 7">
            <a:extLst>
              <a:ext uri="{FF2B5EF4-FFF2-40B4-BE49-F238E27FC236}">
                <a16:creationId xmlns:a16="http://schemas.microsoft.com/office/drawing/2014/main" id="{BAE49A09-9710-9224-A912-478C8C330B26}"/>
              </a:ext>
            </a:extLst>
          </p:cNvPr>
          <p:cNvSpPr>
            <a:spLocks noGrp="1"/>
          </p:cNvSpPr>
          <p:nvPr>
            <p:ph idx="1"/>
          </p:nvPr>
        </p:nvSpPr>
        <p:spPr>
          <a:xfrm>
            <a:off x="1371600" y="2286000"/>
            <a:ext cx="9601199" cy="1648792"/>
          </a:xfrm>
        </p:spPr>
        <p:txBody>
          <a:bodyPr vert="horz" lIns="91440" tIns="45720" rIns="91440" bIns="45720" rtlCol="0" anchor="t">
            <a:noAutofit/>
          </a:bodyPr>
          <a:lstStyle/>
          <a:p>
            <a:pPr marL="0" indent="0">
              <a:buNone/>
            </a:pPr>
            <a:r>
              <a:rPr lang="pt-BR" dirty="0">
                <a:latin typeface="Franklin Gothic Book"/>
                <a:cs typeface="Segoe UI"/>
              </a:rPr>
              <a:t>Para concluir, nosso sistema propõe uma solução acessível, gratuita e eficiente para gestão de pesquisas. Ele resolve limitações encontradas em ferramentas existentes, principalmente em relação a custos e falta de funcionalidades importantes. Além disso, garante anonimato, organização e qualidade na coleta de dados, atendendo diretamente às necessidades das instituições de </a:t>
            </a:r>
            <a:r>
              <a:rPr lang="pt-BR">
                <a:latin typeface="Franklin Gothic Book"/>
                <a:cs typeface="Segoe UI"/>
              </a:rPr>
              <a:t>ensino. </a:t>
            </a:r>
            <a:endParaRPr lang="pt-BR" dirty="0">
              <a:latin typeface="Franklin Gothic Book"/>
              <a:cs typeface="Segoe UI"/>
            </a:endParaRPr>
          </a:p>
          <a:p>
            <a:pPr marL="0" indent="0">
              <a:buNone/>
            </a:pPr>
            <a:r>
              <a:rPr lang="pt-BR">
                <a:latin typeface="Franklin Gothic Book"/>
                <a:cs typeface="Segoe UI"/>
              </a:rPr>
              <a:t>É</a:t>
            </a:r>
            <a:r>
              <a:rPr lang="pt-BR" dirty="0">
                <a:latin typeface="Franklin Gothic Book"/>
                <a:cs typeface="Segoe UI"/>
              </a:rPr>
              <a:t> uma solução com grande potencial de crescimento, </a:t>
            </a:r>
            <a:r>
              <a:rPr lang="pt-BR">
                <a:latin typeface="Franklin Gothic Book"/>
                <a:cs typeface="Segoe UI"/>
              </a:rPr>
              <a:t>que pode evoluir conforme a necessidade dos usuários. Em resumo, buscamos oferecer uma ferramenta simples, mas poderosa, para melhorar a forma como pesquisas institucionais são realizadas.</a:t>
            </a:r>
            <a:endParaRPr lang="pt-BR">
              <a:latin typeface="Franklin Gothic Book"/>
            </a:endParaRPr>
          </a:p>
        </p:txBody>
      </p:sp>
    </p:spTree>
    <p:extLst>
      <p:ext uri="{BB962C8B-B14F-4D97-AF65-F5344CB8AC3E}">
        <p14:creationId xmlns:p14="http://schemas.microsoft.com/office/powerpoint/2010/main" val="1614219248"/>
      </p:ext>
    </p:extLst>
  </p:cSld>
  <p:clrMapOvr>
    <a:masterClrMapping/>
  </p:clrMapOvr>
</p:sld>
</file>

<file path=ppt/theme/theme1.xml><?xml version="1.0" encoding="utf-8"?>
<a:theme xmlns:a="http://schemas.openxmlformats.org/drawingml/2006/main" name="Cortar">
  <a:themeElements>
    <a:clrScheme name="Cortar">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ortar">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ortar">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TM10001105[[fn=Cortar]]</Template>
  <TotalTime>171</TotalTime>
  <Words>661</Words>
  <Application>Microsoft Office PowerPoint</Application>
  <PresentationFormat>Widescreen</PresentationFormat>
  <Paragraphs>67</Paragraphs>
  <Slides>12</Slides>
  <Notes>0</Notes>
  <HiddenSlides>0</HiddenSlides>
  <MMClips>0</MMClips>
  <ScaleCrop>false</ScaleCrop>
  <HeadingPairs>
    <vt:vector size="4" baseType="variant">
      <vt:variant>
        <vt:lpstr>Tema</vt:lpstr>
      </vt:variant>
      <vt:variant>
        <vt:i4>1</vt:i4>
      </vt:variant>
      <vt:variant>
        <vt:lpstr>Títulos de slides</vt:lpstr>
      </vt:variant>
      <vt:variant>
        <vt:i4>12</vt:i4>
      </vt:variant>
    </vt:vector>
  </HeadingPairs>
  <TitlesOfParts>
    <vt:vector size="13" baseType="lpstr">
      <vt:lpstr>Cortar</vt:lpstr>
      <vt:lpstr>Sistema Web de Gestão de Pesquisas por Questionários</vt:lpstr>
      <vt:lpstr>O Problema</vt:lpstr>
      <vt:lpstr>A Oportunidade</vt:lpstr>
      <vt:lpstr>A Solução</vt:lpstr>
      <vt:lpstr>Diferenciais da Solução</vt:lpstr>
      <vt:lpstr>Como Funciona</vt:lpstr>
      <vt:lpstr>Público-Alvo</vt:lpstr>
      <vt:lpstr>Benefícios</vt:lpstr>
      <vt:lpstr>Viabilidade Técnica (Tecnologias)</vt:lpstr>
      <vt:lpstr>MVP – Produto Mínimo Viável</vt:lpstr>
      <vt:lpstr>Evolução Futura</vt:lpstr>
      <vt:lpstr>Conclusão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dc:title>
  <dc:creator>Anderson Pazin</dc:creator>
  <cp:lastModifiedBy>Gustavo Ilescas</cp:lastModifiedBy>
  <cp:revision>64</cp:revision>
  <dcterms:created xsi:type="dcterms:W3CDTF">2023-06-14T22:17:51Z</dcterms:created>
  <dcterms:modified xsi:type="dcterms:W3CDTF">2026-06-16T23:01:24Z</dcterms:modified>
</cp:coreProperties>
</file>